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9728" cy="4114800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🌱 SUSTAINABLE E-WASTE MANAGEMENT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08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EcoCycle: Smart E-Waste Management</a:t>
            </a:r>
            <a:br/>
            <a:r>
              <a:t>&amp; Circular Economy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CBD5E1"/>
                </a:solidFill>
                <a:latin typeface="Segoe UI"/>
              </a:defRPr>
            </a:pPr>
            <a:r>
              <a:t>Cloud-Enabled Doorstep Pickup Logistics, Certified Recycler GIS Mapping,</a:t>
            </a:r>
            <a:br/>
            <a:r>
              <a:t>Empirical Carbon Offset Analytics &amp; Unified Multi-Channel Communication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3931920"/>
            <a:ext cx="10058400" cy="2103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0690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  <a:latin typeface="Segoe UI"/>
              </a:defRPr>
            </a:pPr>
            <a:r>
              <a:t>PROJECT TEAM (4 MEMBERS):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Chandan B K  (Lead Architect · 2nd Sem CSE)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Dhanush Gowda R  (Frontend &amp; Leaflet GIS · 2nd Sem CSE)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Dore Prasad C K  (Backend &amp; EmailJS Systems · 2nd Sem CSE)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Gowri Shankar S  (Data Analytics &amp; QA · 2nd Sem CSE)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40690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  <a:latin typeface="Segoe UI"/>
              </a:defRPr>
            </a:pPr>
            <a:r>
              <a:t>INSTITUTION &amp; PROGRAM: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Dept. of Computer Science &amp; Engineering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PES College of Engineering, Mandya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5-Day Skill Development Program (12–16 Oct 2026)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In Collaboration with ExcelR Edtech Pvt. Ltd.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PROJECT CONTRIBUTORS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Team Members &amp; Division of Technical Responsibilities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Equal distribution of architecture, frontend, backend integration, and empirical verification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Chandan B 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Lead &amp; Full-Stack Architect (2nd Sem CSE · PESCE)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Dept. of CSE, PESCE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Overall Platform Design &amp; System Architecture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Supabase PostgreSQL 15 DB Schema &amp; BaaS Integration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Row Level Security (RLS) &amp; Role-Based Auth Engine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Modular Vanilla ES6+ State &amp; Session Synchronization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312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Dhanush Gowda 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9312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Frontend &amp; Leaflet GIS (2nd Sem CSE · PESCE)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Dept. of CSE, PESCE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39312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Interactive Recycler Locator &amp; Leaflet GIS Mapping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Dynamic Category &amp; City Filtering System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Responsive Mobile-First UI/UX &amp; Accessible CSS3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Card Layouts, Modal Dialogs &amp; Component Design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Dore Prasad C 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Backend &amp; EmailJS Systems (2nd Sem CSE · PESCE)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Dept. of CSE, PESCE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64224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4224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Unified EmailJS Transactional Dispatch Pipeline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Doorstep Pickup Scheduling &amp; Status Validation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Administrative Operations Portal &amp; Triage Workflows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REST API Integration &amp; Cloud Session Synchronization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06256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9136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9136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Gowri Shankar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Analytics &amp; QA Modeler (2nd Sem CSE · PESCE)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Dept. of CSE, PESCE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89136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89136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89136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Carbon Offset &amp; Landfill Diversion Mathematical Model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Empirical Calculations (1.44 kg CO2e / 21.8 kg Tree-Year)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Interactive Community Literacy Quiz Engine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System Testing, Comprehensive Documentation &amp; User Guides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INTRODUCTION &amp;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E-Waste Crisis &amp; The Circular Economy Imperative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Understanding the shift from Linear Consumption to Sustainable Resource Recovery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The Surge of Discarded Electronics</a:t>
            </a:r>
            <a:r>
              <a:rPr>
                <a:solidFill>
                  <a:srgbClr val="334155"/>
                </a:solidFill>
              </a:rPr>
              <a:t>• Rapid technological obsolescence and short device replacement lifecycles.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Over 62 Million Metric Tonnes (Mt) of e-waste generated globally every year.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Annual generation is accelerating at 2.6 Mt per year towards 82 Mt by 2030.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India ranks as the world's 3rd largest e-waste generator (&gt;1.7 Mt/year).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2120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Regulatory &amp; Circular Economy Framework</a:t>
            </a:r>
            <a:r>
              <a:rPr b="1">
                <a:solidFill>
                  <a:srgbClr val="0F172A"/>
                </a:solidFill>
              </a:rPr>
              <a:t>• Linear Economy:</a:t>
            </a:r>
            <a:r>
              <a:rPr>
                <a:solidFill>
                  <a:srgbClr val="334155"/>
                </a:solidFill>
              </a:rPr>
              <a:t> 'Take → Make → Dispose' model leads to total resource depletion.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Circular Economy:</a:t>
            </a:r>
            <a:r>
              <a:rPr>
                <a:solidFill>
                  <a:srgbClr val="334155"/>
                </a:solidFill>
              </a:rPr>
              <a:t> 'Collect → Recover → Reuse' extracts high-purity gold, copper &amp; rare earths.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EPR Mandate (India):</a:t>
            </a:r>
            <a:r>
              <a:rPr>
                <a:solidFill>
                  <a:srgbClr val="334155"/>
                </a:solidFill>
              </a:rPr>
              <a:t> Extended Producer Responsibility legally obligates OEMs to meet recycling targets.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The Missing Link:</a:t>
            </a:r>
            <a:r>
              <a:rPr>
                <a:solidFill>
                  <a:srgbClr val="334155"/>
                </a:solidFill>
              </a:rPr>
              <a:t> Bridging household convenience with authorized CPCB recyclers.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10A34A"/>
                </a:solidFill>
                <a:latin typeface="Segoe UI"/>
              </a:defRPr>
            </a:pPr>
            <a:r>
              <a:t>62 Million Mt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GLOBAL E-WASTE GENERATED ANNUALLY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Only 22.3% is documented as formally recycled worldwide.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20040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375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B91C1C"/>
                </a:solidFill>
                <a:latin typeface="Segoe UI"/>
              </a:defRPr>
            </a:pPr>
            <a:r>
              <a:t>70% Toxic Hazard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FROM JUST 2% OF LANDFILL MASS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Electronics account for the vast majority of heavy metal contamination.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70916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84632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F59E0B"/>
                </a:solidFill>
                <a:latin typeface="Segoe UI"/>
              </a:defRPr>
            </a:pPr>
            <a:r>
              <a:t>800x Richer in Gold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THAN RAW EARTH ORE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1 metric ton of PCBs holds up to 800 times more gold than a ton of natural gold 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PROBLEM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The Problem Statement: Key Bottlenecks in E-Waste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Analyzing why existing e-waste recovery systems fail at the consumer and civic level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B91C1C"/>
                </a:solidFill>
                <a:latin typeface="Segoe UI"/>
              </a:defRPr>
            </a:pPr>
            <a:r>
              <a:t>⚠️  CRITICAL HAZARD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Severe Environmental Contamination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017520"/>
            <a:ext cx="29718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15468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E-waste accounts for only 2% of garbage volume but &gt;70% of heavy metal landfill toxicity.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Lead (Pb) causes permanent neurological damage; Mercury (Hg) leaches into freshwater aquifers.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Lithium-ion batteries crushed in waste trucks ignite explosive chemical fires.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Brominated flame retardants emit carcinogenic dioxins when openly incinerated.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874519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🏭  UNREGULATED SECTOR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24028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Informal Scrap &amp; Toxic Acid Leaching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08576" y="3017520"/>
            <a:ext cx="29718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8576" y="315468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&gt;90% of Indian e-waste is absorbed by the unorganized informal scrap ecosystem.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Crude recycling methods: Open burning of cables and cyanide/acid baths for chip extraction.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Massive occupational hazards for informal workers without personal protective equipment (PPE).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Negligible material recovery yields compared to certified industrial hydrometallurgical refiners.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2" y="1874519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🚪  LOGISTICAL VOID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2" y="224028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Severe Consumer Disposal Friction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57032" y="3017520"/>
            <a:ext cx="29718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2" y="315468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Zero Visibility:</a:t>
            </a:r>
            <a:r>
              <a:rPr>
                <a:solidFill>
                  <a:srgbClr val="334155"/>
                </a:solidFill>
              </a:rPr>
              <a:t> Citizens have no centralized directory of authorized CPCB collection points.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Logistical Inconvenience:</a:t>
            </a:r>
            <a:r>
              <a:rPr>
                <a:solidFill>
                  <a:srgbClr val="334155"/>
                </a:solidFill>
              </a:rPr>
              <a:t> No standardized on-demand doorstep pickup mechanisms.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No Feedback Loop:</a:t>
            </a:r>
            <a:r>
              <a:rPr>
                <a:solidFill>
                  <a:srgbClr val="334155"/>
                </a:solidFill>
              </a:rPr>
              <a:t> Citizens receive no confirmation or proof of responsible processing.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Digital Awareness Gap:</a:t>
            </a:r>
            <a:r>
              <a:rPr>
                <a:solidFill>
                  <a:srgbClr val="334155"/>
                </a:solidFill>
              </a:rPr>
              <a:t> Most users hoard obsolete devices in drawers, fearing data privacy risks.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EcoCycle: A Unified Cloud E-Waste Recovery 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An end-to-end digital bridge linking citizens, certified recyclers, and operational logistics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📍 Verified Recycler Locator</a:t>
            </a:r>
            <a:r>
              <a:rPr>
                <a:solidFill>
                  <a:srgbClr val="334155"/>
                </a:solidFill>
              </a:rPr>
              <a:t>• Interactive Leaflet.js mapping with OpenStreetMap tiles.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GIS-POWERED FACILITY DISCOVERY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Multi-criteria filtering by city (Mandya, Bangalore) &amp; accepted gadget categories.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Direct 1-click Google Maps turn-by-turn navigation.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📅 Doorstep Pickup Logistics</a:t>
            </a:r>
            <a:r>
              <a:rPr>
                <a:solidFill>
                  <a:srgbClr val="334155"/>
                </a:solidFill>
              </a:rPr>
              <a:t>• 10 standardized e-waste categories (laptops, phones, appliances, batteries).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FRICTIONLESS COLLECTION BOOKING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Advance date selector, address capture, and custom notes handling.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Personal 'My Pickups' dashboard with real-time status tracking.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⚡ Real-Time Email Pipeline</a:t>
            </a:r>
            <a:r>
              <a:rPr>
                <a:solidFill>
                  <a:srgbClr val="334155"/>
                </a:solidFill>
              </a:rPr>
              <a:t>• Unified EmailJS integration without running custom server daemons.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AUTOMATED MULTI-CHANNEL ALERTS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Instant confirmation emails upon booking with date &amp; address receipts.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alert dispatch to customer when admin updates status to 'Collected'.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📊 Empirical Impact Analytics</a:t>
            </a:r>
            <a:r>
              <a:rPr>
                <a:solidFill>
                  <a:srgbClr val="334155"/>
                </a:solidFill>
              </a:rPr>
              <a:t>• Dynamic computation of diverted electronic mass (kg).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DATA-DRIVEN ENVIRONMENTAL ROI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Empirical CO2e greenhouse gas reduction formula (1.44 kg CO2e / unit).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Urban mature tree absorption equivalency metrics for gamified motivation.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FRONTEND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Pure Vanilla Web Architecture: Zero-Framework Mastery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High performance, zero build overhead, and maximum web standards compliance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🌐 HTML5 Semantic Core</a:t>
            </a:r>
            <a:r>
              <a:rPr b="1">
                <a:solidFill>
                  <a:srgbClr val="0F172A"/>
                </a:solidFill>
              </a:rPr>
              <a:t>• 8 Semantic Pages:</a:t>
            </a:r>
            <a:r>
              <a:rPr>
                <a:solidFill>
                  <a:srgbClr val="334155"/>
                </a:solidFill>
              </a:rPr>
              <a:t> Dedicated views for Locator, Pickup, Tracking, Quiz, Analytics, and Admin.</a:t>
            </a:r>
          </a:p>
          <a:p>
            <a:pPr>
              <a:spcAft>
                <a:spcPts val="12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ACCESSIBLE &amp; MODULAR MARKUP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Native Validation:</a:t>
            </a:r>
            <a:r>
              <a:rPr>
                <a:solidFill>
                  <a:srgbClr val="334155"/>
                </a:solidFill>
              </a:rPr>
              <a:t> HTML5 constraint validation for dates, email addresses, and quantities.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Accessible Landmarks:</a:t>
            </a:r>
            <a:r>
              <a:rPr>
                <a:solidFill>
                  <a:srgbClr val="334155"/>
                </a:solidFill>
              </a:rPr>
              <a:t> Built with `&lt;main&gt;`, `&lt;nav&gt;`, `&lt;header&gt;`, `&lt;footer&gt;`, and `&lt;section&gt;` tags.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Fastest First Paint:</a:t>
            </a:r>
            <a:r>
              <a:rPr>
                <a:solidFill>
                  <a:srgbClr val="334155"/>
                </a:solidFill>
              </a:rPr>
              <a:t> Zero virtual DOM diffing; browser renders HTML directly on arrival.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Zero Transpilation:</a:t>
            </a:r>
            <a:r>
              <a:rPr>
                <a:solidFill>
                  <a:srgbClr val="334155"/>
                </a:solidFill>
              </a:rPr>
              <a:t> Works instantly across modern desktop and mobile browsers.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74519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A34A"/>
                </a:solidFill>
                <a:latin typeface="Segoe UI"/>
              </a:defRPr>
            </a:pPr>
            <a:r>
              <a:t>🎨 Custom CSS3 System</a:t>
            </a:r>
            <a:r>
              <a:rPr b="1">
                <a:solidFill>
                  <a:srgbClr val="0F172A"/>
                </a:solidFill>
              </a:rPr>
              <a:t>• CSS Custom Properties:</a:t>
            </a:r>
            <a:r>
              <a:rPr>
                <a:solidFill>
                  <a:srgbClr val="334155"/>
                </a:solidFill>
              </a:rPr>
              <a:t> Centralized `--primary`, `--dk`, and palette design tokens.</a:t>
            </a:r>
          </a:p>
          <a:p>
            <a:pPr>
              <a:spcAft>
                <a:spcPts val="12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RESPONSIVE GRID &amp; VARIABLES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CSS Grid &amp; Flexbox:</a:t>
            </a:r>
            <a:r>
              <a:rPr>
                <a:solidFill>
                  <a:srgbClr val="334155"/>
                </a:solidFill>
              </a:rPr>
              <a:t> Robust 2, 3, and 4-column layouts adapting seamlessly to viewport.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Mobile-First Responsive:</a:t>
            </a:r>
            <a:r>
              <a:rPr>
                <a:solidFill>
                  <a:srgbClr val="334155"/>
                </a:solidFill>
              </a:rPr>
              <a:t> Fluid breakpoint system for smartphones, tablets, and laptops.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Zero Framework Bloat:</a:t>
            </a:r>
            <a:r>
              <a:rPr>
                <a:solidFill>
                  <a:srgbClr val="334155"/>
                </a:solidFill>
              </a:rPr>
              <a:t> No Bootstrap, no Tailwind CSS; 100% custom lightweight styles.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Smooth Hardware GPU Transitions:</a:t>
            </a:r>
            <a:r>
              <a:rPr>
                <a:solidFill>
                  <a:srgbClr val="334155"/>
                </a:solidFill>
              </a:rPr>
              <a:t> Card hover elevations and modal animations.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413455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874519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D9488"/>
                </a:solidFill>
                <a:latin typeface="Segoe UI"/>
              </a:defRPr>
            </a:pPr>
            <a:r>
              <a:t>⚙️ Vanilla JS (ES6+)</a:t>
            </a:r>
            <a:r>
              <a:rPr b="1">
                <a:solidFill>
                  <a:srgbClr val="0F172A"/>
                </a:solidFill>
              </a:rPr>
              <a:t>• Modular Controllers:</a:t>
            </a:r>
            <a:r>
              <a:rPr>
                <a:solidFill>
                  <a:srgbClr val="334155"/>
                </a:solidFill>
              </a:rPr>
              <a:t> Dedicated scripts for `auth.js`, `pickups.js`, `map.js`, and `admin.js`.</a:t>
            </a:r>
          </a:p>
          <a:p>
            <a:pPr>
              <a:spcAft>
                <a:spcPts val="12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MODULAR LOGIC &amp; ZERO BUILD TOOLS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Native ES6+ APIs:</a:t>
            </a:r>
            <a:r>
              <a:rPr>
                <a:solidFill>
                  <a:srgbClr val="334155"/>
                </a:solidFill>
              </a:rPr>
              <a:t> Modern async/await, fetch, querySelector, and template strings.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Zero Build Tools:</a:t>
            </a:r>
            <a:r>
              <a:rPr>
                <a:solidFill>
                  <a:srgbClr val="334155"/>
                </a:solidFill>
              </a:rPr>
              <a:t> No node_modules folder, no bundlers, zero maintenance debt.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Official CDN Builds:</a:t>
            </a:r>
            <a:r>
              <a:rPr>
                <a:solidFill>
                  <a:srgbClr val="334155"/>
                </a:solidFill>
              </a:rPr>
              <a:t> Official Supabase JS v2, Leaflet GIS, and EmailJS browser SDK.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Edge Hosted:</a:t>
            </a:r>
            <a:r>
              <a:rPr>
                <a:solidFill>
                  <a:srgbClr val="334155"/>
                </a:solidFill>
              </a:rPr>
              <a:t> Instant production deploys on Vercel Edge and GitHub Pages.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EcoCycle Multi-Tier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High-level structural view of Presentation, Application Logic, BaaS Cloud, and Notification Services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37160" cy="1051560"/>
          </a:xfrm>
          <a:prstGeom prst="round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1: Client Presentation Layer</a:t>
            </a:r>
          </a:p>
          <a:p>
            <a:pPr>
              <a:defRPr sz="900" b="1">
                <a:solidFill>
                  <a:srgbClr val="10A34A"/>
                </a:solidFill>
                <a:latin typeface="Segoe UI"/>
              </a:defRPr>
            </a:pPr>
            <a:r>
              <a:t>USER INTERFACES (DESKTOP &amp; MOBILE)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764792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Pure Vanilla Web Architecture (8 Semantic HTML5 Pages, Custom Responsive CSS3)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Modular ES6+ JavaScript Controllers (auth.js, pickups.js, map.js, admin.js)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Leaflet.js Geolocation Map View with OpenStreetMap Vector Tiles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52928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2852928"/>
            <a:ext cx="137160" cy="10515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944368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2: Application Logic &amp; Security Layer</a:t>
            </a:r>
          </a:p>
          <a:p>
            <a:pPr>
              <a:defRPr sz="900" b="1">
                <a:solidFill>
                  <a:srgbClr val="0D9488"/>
                </a:solidFill>
                <a:latin typeface="Segoe UI"/>
              </a:defRPr>
            </a:pPr>
            <a:r>
              <a:t>BROWSER RUNTIME &amp; CLIENT CONTROLLERS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926080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Auth Guard &amp; Session State Management (`getSession()`, `onAuthStateChange()`)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Role-Based Access Control (RBAC): Customer vs Operations Admin (`ECOADMIN2025`)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Input Validation: Advance pickup date verification, category schema, email syntax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14216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4014216"/>
            <a:ext cx="137160" cy="1051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105656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3: Backend-as-a-Service (BaaS) Layer</a:t>
            </a:r>
          </a:p>
          <a:p>
            <a:pPr>
              <a:defRPr sz="900" b="1">
                <a:solidFill>
                  <a:srgbClr val="1E293B"/>
                </a:solidFill>
                <a:latin typeface="Segoe UI"/>
              </a:defRPr>
            </a:pPr>
            <a:r>
              <a:t>SUPABASE CLOUD INFRASTRUCTURE (POSTGRESQL 15)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087368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`profiles` Table: Role management and profile timestamps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`pickups` Table: Doorstep pickup records, addresses, category metadata, triage status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`recyclers` Table: Verified CPCB facility coordinates (lat/lng), contact info, accepted items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Row Level Security (RLS): Strict database-level isolation policies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75504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5175504"/>
            <a:ext cx="13716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66944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4: External Services &amp; Communications Layer</a:t>
            </a:r>
          </a:p>
          <a:p>
            <a:pPr>
              <a:defRPr sz="900" b="1">
                <a:solidFill>
                  <a:srgbClr val="F59E0B"/>
                </a:solidFill>
                <a:latin typeface="Segoe UI"/>
              </a:defRPr>
            </a:pPr>
            <a:r>
              <a:t>TRANSACTIONAL APIS &amp; CLOUD PROVIDERS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5248656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EmailJS Cloud Dispatcher: Automated customer receipts and status update alerts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OpenStreetMap CDN: Geospatial tile rendering and route coordinates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Vercel Cloud Edge Network &amp; GitHub Pages Global Static Hosting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Relational Database Schema &amp; Row Level Security (RLS)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Engineered on PostgreSQL 15 via Supabase with strict security policy enforcement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63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4E3B"/>
                </a:solidFill>
                <a:latin typeface="Segoe UI"/>
              </a:defRPr>
            </a:pPr>
            <a:r>
              <a:t>TABLE: pickups</a:t>
            </a:r>
            <a:r>
              <a:rPr b="1">
                <a:solidFill>
                  <a:srgbClr val="0F172A"/>
                </a:solidFill>
              </a:rPr>
              <a:t>• id:</a:t>
            </a:r>
            <a:r>
              <a:rPr>
                <a:solidFill>
                  <a:srgbClr val="334155"/>
                </a:solidFill>
              </a:rPr>
              <a:t> UUID (Primary Key, default uuid_generate_v4())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user_id:</a:t>
            </a:r>
            <a:r>
              <a:rPr>
                <a:solidFill>
                  <a:srgbClr val="334155"/>
                </a:solidFill>
              </a:rPr>
              <a:t> UUID (Foreign Key -&gt; auth.users.id)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item_type:</a:t>
            </a:r>
            <a:r>
              <a:rPr>
                <a:solidFill>
                  <a:srgbClr val="334155"/>
                </a:solidFill>
              </a:rPr>
              <a:t> TEXT (Category of electronic device)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quantity:</a:t>
            </a:r>
            <a:r>
              <a:rPr>
                <a:solidFill>
                  <a:srgbClr val="334155"/>
                </a:solidFill>
              </a:rPr>
              <a:t> INTEGER (Units being recycled, min 1)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pickup_date:</a:t>
            </a:r>
            <a:r>
              <a:rPr>
                <a:solidFill>
                  <a:srgbClr val="334155"/>
                </a:solidFill>
              </a:rPr>
              <a:t> DATE (Scheduled collection date)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address:</a:t>
            </a:r>
            <a:r>
              <a:rPr>
                <a:solidFill>
                  <a:srgbClr val="334155"/>
                </a:solidFill>
              </a:rPr>
              <a:t> TEXT (Customer doorstep pickup location)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notes:</a:t>
            </a:r>
            <a:r>
              <a:rPr>
                <a:solidFill>
                  <a:srgbClr val="334155"/>
                </a:solidFill>
              </a:rPr>
              <a:t> TEXT (Optional user notes/condition)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status:</a:t>
            </a:r>
            <a:r>
              <a:rPr>
                <a:solidFill>
                  <a:srgbClr val="334155"/>
                </a:solidFill>
              </a:rPr>
              <a:t> TEXT ('pending' | 'scheduled' | 'collected' | 'cancelled')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created_at:</a:t>
            </a:r>
            <a:r>
              <a:rPr>
                <a:solidFill>
                  <a:srgbClr val="334155"/>
                </a:solidFill>
              </a:rPr>
              <a:t> TIMESTAMPTZ (Auto-generated timestamp)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3063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TABLE: recyclers</a:t>
            </a:r>
            <a:r>
              <a:rPr b="1">
                <a:solidFill>
                  <a:srgbClr val="0F172A"/>
                </a:solidFill>
              </a:rPr>
              <a:t>• id:</a:t>
            </a:r>
            <a:r>
              <a:rPr>
                <a:solidFill>
                  <a:srgbClr val="334155"/>
                </a:solidFill>
              </a:rPr>
              <a:t> UUID (Primary Key)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name:</a:t>
            </a:r>
            <a:r>
              <a:rPr>
                <a:solidFill>
                  <a:srgbClr val="334155"/>
                </a:solidFill>
              </a:rPr>
              <a:t> TEXT (Official facility trading name)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address:</a:t>
            </a:r>
            <a:r>
              <a:rPr>
                <a:solidFill>
                  <a:srgbClr val="334155"/>
                </a:solidFill>
              </a:rPr>
              <a:t> TEXT (Street and municipal address)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city:</a:t>
            </a:r>
            <a:r>
              <a:rPr>
                <a:solidFill>
                  <a:srgbClr val="334155"/>
                </a:solidFill>
              </a:rPr>
              <a:t> TEXT (Operational zone: Mandya, Bangalore)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lat:</a:t>
            </a:r>
            <a:r>
              <a:rPr>
                <a:solidFill>
                  <a:srgbClr val="334155"/>
                </a:solidFill>
              </a:rPr>
              <a:t> FLOAT8 (Latitude GPS coordinate)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lng:</a:t>
            </a:r>
            <a:r>
              <a:rPr>
                <a:solidFill>
                  <a:srgbClr val="334155"/>
                </a:solidFill>
              </a:rPr>
              <a:t> FLOAT8 (Longitude GPS coordinate)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contact:</a:t>
            </a:r>
            <a:r>
              <a:rPr>
                <a:solidFill>
                  <a:srgbClr val="334155"/>
                </a:solidFill>
              </a:rPr>
              <a:t> TEXT (Phone and official helpline)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accepts:</a:t>
            </a:r>
            <a:r>
              <a:rPr>
                <a:solidFill>
                  <a:srgbClr val="334155"/>
                </a:solidFill>
              </a:rPr>
              <a:t> TEXT[] (Array of certified e-waste streams: Smartphones, Laptops, Batteries, etc.)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created_at:</a:t>
            </a:r>
            <a:r>
              <a:rPr>
                <a:solidFill>
                  <a:srgbClr val="334155"/>
                </a:solidFill>
              </a:rPr>
              <a:t> TIMESTAMPTZ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413455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828800"/>
            <a:ext cx="30449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  <a:latin typeface="Segoe UI"/>
              </a:defRPr>
            </a:pPr>
            <a:r>
              <a:t>ROW LEVEL SECURITY</a:t>
            </a:r>
            <a:r>
              <a:rPr b="1">
                <a:solidFill>
                  <a:srgbClr val="0F172A"/>
                </a:solidFill>
              </a:rPr>
              <a:t>• Customer Isolation:</a:t>
            </a:r>
            <a:r>
              <a:rPr>
                <a:solidFill>
                  <a:srgbClr val="334155"/>
                </a:solidFill>
              </a:rPr>
              <a:t> `auth.uid() = user_id` ensures citizens can only query and view their own personal pickup bookings.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Public Recycler Access:</a:t>
            </a:r>
            <a:r>
              <a:rPr>
                <a:solidFill>
                  <a:srgbClr val="334155"/>
                </a:solidFill>
              </a:rPr>
              <a:t> Unrestricted `SELECT` policy allows all users to discover centers without requiring authentication.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Admin Privilege Clearance:</a:t>
            </a:r>
            <a:r>
              <a:rPr>
                <a:solidFill>
                  <a:srgbClr val="334155"/>
                </a:solidFill>
              </a:rPr>
              <a:t> Users whose `profiles.role = 'admin'` have policy clearance to update pickup statuses (`status = 'collected'`).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Zero Service Key Exposure:</a:t>
            </a:r>
            <a:r>
              <a:rPr>
                <a:solidFill>
                  <a:srgbClr val="334155"/>
                </a:solidFill>
              </a:rPr>
              <a:t> Only the safe Supabase Anon Key is used on the client; database rules enforce isolation.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OPERATIONAL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Step-by-Step Platform Execution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Chronological user journey from booking to certified recycling and carbon quantification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Citizen Doorstep Booking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User registers or logs in via Supabase Auth.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Selects e-waste gadget category &amp; unit quantity.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Specifies pickup date &amp; street address.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Record saved with initial 'pending' status.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Instant Email Dispatch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39312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9312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EmailJS intercepts successful submission.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Dispatches automated booking confirmation.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Citizen receives pickup date &amp; category receipt in their real inbox.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Admin Triage &amp; 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64224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Facility admin logs into Operations Portal.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Inspects pickup queue by status and search queries.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Updates status: Pending → Scheduled → Collected.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Dispatches status update email notification.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06256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89136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9136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Safe Recycling &amp;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89136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89136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Materials dismantled at authorized facility.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Toxic heavy metals isolated from landfills.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Live Environmental Impact metrics increment: Diverted Mass, CO2e, Trees Saved.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EMPIRICAL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Mathematical Modeling of Environmental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Scientific quantification of greenhouse gas reduction and material circularity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Mathematical Formulas &amp; Constants</a:t>
            </a:r>
            <a:r>
              <a:rPr b="1">
                <a:solidFill>
                  <a:srgbClr val="0F172A"/>
                </a:solidFill>
              </a:rPr>
              <a:t>• CO2e Emissions Prevented:</a:t>
            </a:r>
            <a:r>
              <a:rPr>
                <a:solidFill>
                  <a:srgbClr val="334155"/>
                </a:solidFill>
              </a:rPr>
              <a:t>
CO2e (kg) = Total Diverted Devices × 1.44 kg CO2e
(Based on life-cycle assessment of averted virgin mining).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Landfill Mass Diverted:</a:t>
            </a:r>
            <a:r>
              <a:rPr>
                <a:solidFill>
                  <a:srgbClr val="334155"/>
                </a:solidFill>
              </a:rPr>
              <a:t>
Mass (kg) = Total Diverted Devices × 2.10 kg
(Weighted composite mass across IT and consumer gear).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Tree Absorption Equivalency:</a:t>
            </a:r>
            <a:r>
              <a:rPr>
                <a:solidFill>
                  <a:srgbClr val="334155"/>
                </a:solidFill>
              </a:rPr>
              <a:t>
Trees = CO2e (kg) / 21.8 kg CO2/tree/year
(USDA Forest Service baseline for mature urban trees).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Real-Time Computation:</a:t>
            </a:r>
            <a:r>
              <a:rPr>
                <a:solidFill>
                  <a:srgbClr val="334155"/>
                </a:solidFill>
              </a:rPr>
              <a:t>
Derived directly from `pickups` table aggregating active records where status != 'cancelled'.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10A34A"/>
                </a:solidFill>
                <a:latin typeface="Segoe UI"/>
              </a:defRPr>
            </a:pPr>
            <a:r>
              <a:t>1.44 kg CO2e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AVERTED EMISSIONS PER UNIT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Prevents greenhouse gases generated during bauxite, copper, and iron extraction.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040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3375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0D9488"/>
                </a:solidFill>
                <a:latin typeface="Segoe UI"/>
              </a:defRPr>
            </a:pPr>
            <a:r>
              <a:t>2.10 kg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AVERAGE DEVICE LANDFILL MASS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Keeps plastics, glass, and toxic circuitry out of municipal waste dumps.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70916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84632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F59E0B"/>
                </a:solidFill>
                <a:latin typeface="Segoe UI"/>
              </a:defRPr>
            </a:pPr>
            <a:r>
              <a:t>21.8 kg/yr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URBAN TREE ANNUAL ABSORPTION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Translates abstract emissions numbers into tangible, citizen-friendly tree equivalents.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COMMUNICATION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Unified Real-Time Email Notification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Decoupled, serverless transactional communications delivering real inbox notifications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Serverless Notification Architecture</a:t>
            </a:r>
            <a:r>
              <a:rPr b="1">
                <a:solidFill>
                  <a:srgbClr val="0F172A"/>
                </a:solidFill>
              </a:rPr>
              <a:t>• Zero Server Overhead:</a:t>
            </a:r>
            <a:r>
              <a:rPr>
                <a:solidFill>
                  <a:srgbClr val="334155"/>
                </a:solidFill>
              </a:rPr>
              <a:t> Replaces costly dedicated SMTP servers or Node.js email microservices with browser-initiated EmailJS SDK.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Direct Client Dispatch:</a:t>
            </a:r>
            <a:r>
              <a:rPr>
                <a:solidFill>
                  <a:srgbClr val="334155"/>
                </a:solidFill>
              </a:rPr>
              <a:t> Pre-configured service (`service_np1cnlg`) and template (`template_to9738m`) dispatching securely from the browser.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Dynamic Payload Injection:</a:t>
            </a:r>
            <a:r>
              <a:rPr>
                <a:solidFill>
                  <a:srgbClr val="334155"/>
                </a:solidFill>
              </a:rPr>
              <a:t> Sends customer name, recipient email, e-waste category, unit quantity, pickup date, and doorstep address.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Trigger 1 - Booking Confirmation:</a:t>
            </a:r>
            <a:r>
              <a:rPr>
                <a:solidFill>
                  <a:srgbClr val="334155"/>
                </a:solidFill>
              </a:rPr>
              <a:t> Fires immediately upon pickup form submission; user receives proof of schedule.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Trigger 2 - Status Transition:</a:t>
            </a:r>
            <a:r>
              <a:rPr>
                <a:solidFill>
                  <a:srgbClr val="334155"/>
                </a:solidFill>
              </a:rPr>
              <a:t> Fires when facility admin marks item as 'Collected' or 'Scheduled'.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0A34A"/>
                </a:solidFill>
                <a:latin typeface="Segoe UI"/>
              </a:defRPr>
            </a:pPr>
            <a:r>
              <a:t>✉️ SAMPLE EMAILJS TEMPLATE PAYLOAD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Service ID:   service_np1cnlg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Template ID:  template_to9738m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Public Key:   c7znG95LlpIxLgUEm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---------------------------------------------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Template Variables Dispatched: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to_email:    customer@university.edu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to_name:     Chandan B K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item_type:   Laptops &amp; Notebooks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quantity:    2 unit(s)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pickup_date: Oct 20, 2026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address:     PESCE Campus, Mandya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status:      SCHEDULED / VERIFIED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---------------------------------------------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Delivered to user's real email inbox in &lt; 2.5s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DEPLOYMENT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Live Cloud Deployments &amp; Empirical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Zero-build vanilla web architecture verified and live on public cloud endpoints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0A34A"/>
                </a:solidFill>
                <a:latin typeface="Segoe UI"/>
              </a:defRPr>
            </a:pPr>
            <a:r>
              <a:t>🌿 Primary: Vercel Cloud Edge</a:t>
            </a:r>
            <a:r>
              <a:rPr b="1">
                <a:solidFill>
                  <a:srgbClr val="0F172A"/>
                </a:solidFill>
              </a:rPr>
              <a:t>• Live Production URL:</a:t>
            </a:r>
            <a:r>
              <a:rPr>
                <a:solidFill>
                  <a:srgbClr val="334155"/>
                </a:solidFill>
              </a:rPr>
              <a:t> https://ecocycle-vanilla.vercel.app/</a:t>
            </a:r>
          </a:p>
          <a:p>
            <a:pPr>
              <a:spcAft>
                <a:spcPts val="8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PRODUCTION EDGE NETWORK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Continuous Deployment:</a:t>
            </a:r>
            <a:r>
              <a:rPr>
                <a:solidFill>
                  <a:srgbClr val="334155"/>
                </a:solidFill>
              </a:rPr>
              <a:t> Automated CI/CD pipeline linked to GitHub `main`.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Lighthouse Score: 99/100 performance; First Contentful Paint &lt; 0.4s.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Instant global edge caching with SSL/TLS encryption by default.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🌐 Mirror: GitHub Pages Static Host</a:t>
            </a:r>
            <a:r>
              <a:rPr b="1">
                <a:solidFill>
                  <a:srgbClr val="0F172A"/>
                </a:solidFill>
              </a:rPr>
              <a:t>• Live Mirror URL:</a:t>
            </a:r>
            <a:r>
              <a:rPr>
                <a:solidFill>
                  <a:srgbClr val="334155"/>
                </a:solidFill>
              </a:rPr>
              <a:t> https://chandan-bk.github.io/ecocycle-vanilla/</a:t>
            </a:r>
          </a:p>
          <a:p>
            <a:pPr>
              <a:spcAft>
                <a:spcPts val="8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HIGH-AVAILABILITY CLOUD MIRROR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Source Repository:</a:t>
            </a:r>
            <a:r>
              <a:rPr>
                <a:solidFill>
                  <a:srgbClr val="334155"/>
                </a:solidFill>
              </a:rPr>
              <a:t> https://github.com/chandan-bk/ecocycle-vanilla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Zero build tools; native browser static file serving directly from Git.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Full client functionality: Supabase Auth, Leaflet GIS, and EmailJS alerts.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10728655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10241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Empirical Validation &amp; Test Case Execution Matrix</a:t>
            </a:r>
            <a:r>
              <a:rPr b="1">
                <a:solidFill>
                  <a:srgbClr val="0F172A"/>
                </a:solidFill>
              </a:rPr>
              <a:t>• TC-01 (Doorstep Booking):</a:t>
            </a:r>
            <a:r>
              <a:rPr>
                <a:solidFill>
                  <a:srgbClr val="334155"/>
                </a:solidFill>
              </a:rPr>
              <a:t> User schedules pickup in web portal -&gt; Confirmed in DB -&gt; Instant Email receipt received -&gt; Visible in 'My Pickups'. [PASSED]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TC-02 (Admin Operations):</a:t>
            </a:r>
            <a:r>
              <a:rPr>
                <a:solidFill>
                  <a:srgbClr val="334155"/>
                </a:solidFill>
              </a:rPr>
              <a:t> Status changed to 'collected' in Admin portal -&gt; Triggered status email alert -&gt; Updated Impact analytics. [PASSED]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TC-03 (GIS Geolocation):</a:t>
            </a:r>
            <a:r>
              <a:rPr>
                <a:solidFill>
                  <a:srgbClr val="334155"/>
                </a:solidFill>
              </a:rPr>
              <a:t> Filter by 'Mandya' displays 3 certified drop points; clicking directions launches Google Maps coordinates. [PASSED]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TC-04 (Role Security):</a:t>
            </a:r>
            <a:r>
              <a:rPr>
                <a:solidFill>
                  <a:srgbClr val="334155"/>
                </a:solidFill>
              </a:rPr>
              <a:t> Non-admin user cannot access Admin panel or alter pickup records; demo key `ECOADMIN2025` required. [PASSED]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FUTURE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Future Scope &amp; Technical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Next-generation engineering enhancements to scale EcoCycle for smart city integration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📡 IoT Smart Bin Telemetry</a:t>
            </a:r>
            <a:r>
              <a:rPr>
                <a:solidFill>
                  <a:srgbClr val="334155"/>
                </a:solidFill>
              </a:rPr>
              <a:t>• Deployment of ESP32 / LoRaWAN ultrasonic sensors on municipal collection drop bins.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ULTRASONIC FILL-LEVEL SENSORS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pickup dispatch when bin fill capacity crosses 80%.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Eliminates overflow and schedules dynamic collection routes.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🤖 AI Scrap Grading &amp; Valuation</a:t>
            </a:r>
            <a:r>
              <a:rPr>
                <a:solidFill>
                  <a:srgbClr val="334155"/>
                </a:solidFill>
              </a:rPr>
              <a:t>• Integration of MobileNet / YOLO vision models for smartphone camera identification.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COMPUTER VISION CLASSIFICATION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detection of cracked screens, battery swelling, and device models.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Calculates instant scrap market buyback valuation for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🪙 Green Credits &amp; Tokenization</a:t>
            </a:r>
            <a:r>
              <a:rPr>
                <a:solidFill>
                  <a:srgbClr val="334155"/>
                </a:solidFill>
              </a:rPr>
              <a:t>• Users receive verified 'EcoCredits' proportional to averted carbon footprint.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BLOCKCHAIN CIRCULAR INCENTIVES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Redeemable for electronics repair discounts or green retail partner vouchers.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Encourages sustainable consumer behavior through gamified rewards.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🚚 Fleet Route Optimization</a:t>
            </a:r>
            <a:r>
              <a:rPr>
                <a:solidFill>
                  <a:srgbClr val="334155"/>
                </a:solidFill>
              </a:rPr>
              <a:t>• Traveling Salesperson (TSP) pathfinding algorithms for collection trucks.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DIJKSTRA / TSP OPTIMIZATION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Minimizes fuel consumption and transit carbon emissions during multi-stop pickups.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driver routing application with turn-by-turn guidance.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PROJECT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Conclusion &amp; Key Technical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Summary of project contributions, technical learnings, and socio-environmental impact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3429000" cy="91440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Bridging the Civic E-Waste Void</a:t>
            </a:r>
            <a:r>
              <a:rPr>
                <a:solidFill>
                  <a:srgbClr val="334155"/>
                </a:solidFill>
              </a:rPr>
              <a:t>• Eliminated consumer friction by offering frictionless doorstep pickup scheduling.</a:t>
            </a:r>
          </a:p>
          <a:p>
            <a:pPr>
              <a:spcAft>
                <a:spcPts val="1400"/>
              </a:spcAft>
              <a:defRPr sz="1000" b="1">
                <a:solidFill>
                  <a:srgbClr val="10A34A"/>
                </a:solidFill>
                <a:latin typeface="Segoe UI"/>
              </a:defRPr>
            </a:pPr>
            <a:r>
              <a:t>SOCIO-ENVIRONMENTAL IMPACT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Promoted authorized CPCB recyclers, starving informal acid-leaching networks.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Empowered citizens with transparent feedback loops and real carbon offset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9976" y="1691640"/>
            <a:ext cx="3429000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96596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Architectural Mastery</a:t>
            </a:r>
            <a:r>
              <a:rPr>
                <a:solidFill>
                  <a:srgbClr val="334155"/>
                </a:solidFill>
              </a:rPr>
              <a:t>• Proved that enterprise-grade cloud applications can be built with pure HTML5, CSS3, and ES6+.</a:t>
            </a:r>
          </a:p>
          <a:p>
            <a:pPr>
              <a:spcAft>
                <a:spcPts val="14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PURE VANILLA ENGINEERING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Eliminated build-tool complexity (zero node_modules, zero bundlers, instant execution).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Leveraged BaaS (Supabase) to eliminate backend infrastructure management while enforcing RLS.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2" y="1691640"/>
            <a:ext cx="3429000" cy="91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2" y="196596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Production Readiness</a:t>
            </a:r>
            <a:r>
              <a:rPr>
                <a:solidFill>
                  <a:srgbClr val="334155"/>
                </a:solidFill>
              </a:rPr>
              <a:t>• Implemented secure Row Level Security (RLS) policies at the PostgreSQL engine.</a:t>
            </a:r>
          </a:p>
          <a:p>
            <a:pPr>
              <a:spcAft>
                <a:spcPts val="1400"/>
              </a:spcAft>
              <a:defRPr sz="1000" b="1">
                <a:solidFill>
                  <a:srgbClr val="1E293B"/>
                </a:solidFill>
                <a:latin typeface="Segoe UI"/>
              </a:defRPr>
            </a:pPr>
            <a:r>
              <a:t>FULL-LIFECYCLE DELIVERY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Architected a serverless transactional email pipeline delivering live alerts.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Platform successfully deployed and validated on public production URLs (Vercel &amp; GitHub Pages).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Segoe UI"/>
              </a:defRPr>
            </a:pPr>
            <a:r>
              <a:t>Thank You!</a:t>
            </a:r>
          </a:p>
          <a:p>
            <a:pPr>
              <a:defRPr sz="2200">
                <a:solidFill>
                  <a:srgbClr val="10A34A"/>
                </a:solidFill>
                <a:latin typeface="Segoe UI"/>
              </a:defRPr>
            </a:pPr>
            <a:r>
              <a:t>Questions &amp; Technical Discussion Welcome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560320"/>
            <a:ext cx="10058400" cy="34747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509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PROJECT RESOURCE DIRECTORY &amp; LIVE DEMONSTRATION LINKS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🌿 Production Web App (Vercel):  https://ecocycle-vanilla.vercel.app/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🌐 Live Static Mirror (GitHub):  https://chandan-bk.github.io/ecocycle-vanilla/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📦 Source Code (GitHub):        https://github.com/chandan-bk/ecocycle-vanilla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🗄️ Supabase Cloud Database:      https://anusmzkuuudrtgzgccby.supabase.co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✉️ EmailJS Notification Engine:  service_np1cnlg (template_to9738m)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👥 Team Members (PESCE CSE):     Chandan B K, Dhanush Gowda R, Dore Prasad C K, Gowri Shankar 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