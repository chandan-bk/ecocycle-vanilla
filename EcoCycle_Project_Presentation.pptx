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600" b="1">
                <a:solidFill>
                  <a:srgbClr val="FFFFFF"/>
                </a:solidFill>
                <a:latin typeface="Cambria"/>
              </a:defRPr>
            </a:pPr>
            <a:r>
              <a:t>EcoCycle</a:t>
            </a:r>
          </a:p>
          <a:p>
            <a:pPr>
              <a:spcAft>
                <a:spcPts val="2400"/>
              </a:spcAft>
              <a:defRPr sz="2200">
                <a:solidFill>
                  <a:srgbClr val="E6F4EC"/>
                </a:solidFill>
                <a:latin typeface="Calibri"/>
              </a:defRPr>
            </a:pPr>
            <a:r>
              <a:t>E-Waste Pickup &amp; Recycler Locator</a:t>
            </a:r>
          </a:p>
          <a:p>
            <a:pPr>
              <a:spcAft>
                <a:spcPts val="1200"/>
              </a:spcAft>
              <a:defRPr sz="1900" b="1">
                <a:solidFill>
                  <a:srgbClr val="F2B134"/>
                </a:solidFill>
                <a:latin typeface="Calibri"/>
              </a:defRPr>
            </a:pPr>
            <a:r>
              <a:t>Web Development Foundations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5-Day Skill Development Program · 12–16 Oct 2026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Dept. of Computer Science &amp; Engineering, PES College of Engineering, Mandya</a:t>
            </a:r>
          </a:p>
          <a:p>
            <a:pPr>
              <a:defRPr sz="1300">
                <a:solidFill>
                  <a:srgbClr val="C8EBD7"/>
                </a:solidFill>
                <a:latin typeface="Calibri"/>
              </a:defRPr>
            </a:pPr>
            <a:r>
              <a:t>In collaboration with ExcelR Edtech Pvt. Ltd., Bengaluru</a:t>
            </a:r>
          </a:p>
        </p:txBody>
      </p:sp>
      <p:sp>
        <p:nvSpPr>
          <p:cNvPr id="4" name="Oval 3"/>
          <p:cNvSpPr/>
          <p:nvPr/>
        </p:nvSpPr>
        <p:spPr>
          <a:xfrm>
            <a:off x="8961120" y="1737360"/>
            <a:ext cx="2377440" cy="2377440"/>
          </a:xfrm>
          <a:prstGeom prst="ellipse">
            <a:avLst/>
          </a:prstGeom>
          <a:solidFill>
            <a:srgbClr val="2FA36B"/>
          </a:solidFill>
          <a:ln w="38100">
            <a:solidFill>
              <a:srgbClr val="3CC8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/>
            </a:pPr>
            <a:r>
              <a:t>♻️</a:t>
            </a:r>
          </a:p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Circular Economy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6F4EC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E6F4EC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Our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87168" cy="411480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72184" y="1737360"/>
            <a:ext cx="1005840" cy="10058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22128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1C7C54"/>
                </a:solidFill>
                <a:latin typeface="Calibri"/>
              </a:defRPr>
            </a:pPr>
            <a:r>
              <a:t>Team Member 1</a:t>
            </a:r>
          </a:p>
          <a:p>
            <a:pPr algn="ctr"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Chandan B K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5F7469"/>
                </a:solidFill>
                <a:latin typeface="Calibri"/>
              </a:defRPr>
            </a:pPr>
            <a:r>
              <a:t>Lead &amp; Full-Stack Architect</a:t>
            </a:r>
          </a:p>
          <a:p>
            <a:pPr algn="ctr">
              <a:defRPr sz="1100" b="1">
                <a:solidFill>
                  <a:srgbClr val="1C7C54"/>
                </a:solidFill>
                <a:latin typeface="Calibri"/>
              </a:defRPr>
            </a:pPr>
            <a:r>
              <a:t>3rd Sem CSE · PESCE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371600"/>
            <a:ext cx="2487168" cy="411480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15384" y="1737360"/>
            <a:ext cx="1005840" cy="10058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926080"/>
            <a:ext cx="22128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1C7C54"/>
                </a:solidFill>
                <a:latin typeface="Calibri"/>
              </a:defRPr>
            </a:pPr>
            <a:r>
              <a:t>Team Member 2</a:t>
            </a:r>
          </a:p>
          <a:p>
            <a:pPr algn="ctr"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Dhanush Gowda R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5F7469"/>
                </a:solidFill>
                <a:latin typeface="Calibri"/>
              </a:defRPr>
            </a:pPr>
            <a:r>
              <a:t>Frontend &amp; Leaflet GIS</a:t>
            </a:r>
          </a:p>
          <a:p>
            <a:pPr algn="ctr">
              <a:defRPr sz="1100" b="1">
                <a:solidFill>
                  <a:srgbClr val="1C7C54"/>
                </a:solidFill>
                <a:latin typeface="Calibri"/>
              </a:defRPr>
            </a:pPr>
            <a:r>
              <a:t>3rd Sem CSE · PESCE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487168" cy="411480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58584" y="1737360"/>
            <a:ext cx="1005840" cy="10058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926080"/>
            <a:ext cx="22128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1C7C54"/>
                </a:solidFill>
                <a:latin typeface="Calibri"/>
              </a:defRPr>
            </a:pPr>
            <a:r>
              <a:t>Team Member 3</a:t>
            </a:r>
          </a:p>
          <a:p>
            <a:pPr algn="ctr"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Dore Prasad C K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5F7469"/>
                </a:solidFill>
                <a:latin typeface="Calibri"/>
              </a:defRPr>
            </a:pPr>
            <a:r>
              <a:t>Backend &amp; EmailJS</a:t>
            </a:r>
          </a:p>
          <a:p>
            <a:pPr algn="ctr">
              <a:defRPr sz="1100" b="1">
                <a:solidFill>
                  <a:srgbClr val="1C7C54"/>
                </a:solidFill>
                <a:latin typeface="Calibri"/>
              </a:defRPr>
            </a:pPr>
            <a:r>
              <a:t>3rd Sem CSE · PESCE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371600"/>
            <a:ext cx="2487168" cy="411480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01784" y="1737360"/>
            <a:ext cx="1005840" cy="10058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926080"/>
            <a:ext cx="22128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1C7C54"/>
                </a:solidFill>
                <a:latin typeface="Calibri"/>
              </a:defRPr>
            </a:pPr>
            <a:r>
              <a:t>Team Member 4</a:t>
            </a:r>
          </a:p>
          <a:p>
            <a:pPr algn="ctr"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Gowri Shankar S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5F7469"/>
                </a:solidFill>
                <a:latin typeface="Calibri"/>
              </a:defRPr>
            </a:pPr>
            <a:r>
              <a:t>Analytics &amp; QA Modeler</a:t>
            </a:r>
          </a:p>
          <a:p>
            <a:pPr algn="ctr">
              <a:defRPr sz="1100" b="1">
                <a:solidFill>
                  <a:srgbClr val="1C7C54"/>
                </a:solidFill>
                <a:latin typeface="Calibri"/>
              </a:defRPr>
            </a:pPr>
            <a:r>
              <a:t>3rd Sem CSE · PESCE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728655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5-Day Skill Development Program · Dept. of CSE, PES College of Engineering, Mandya</a:t>
            </a:r>
          </a:p>
          <a:p>
            <a:pPr algn="r">
              <a:defRPr sz="1200" b="1">
                <a:solidFill>
                  <a:srgbClr val="F2B134"/>
                </a:solidFill>
                <a:latin typeface="Calibri"/>
              </a:defRPr>
            </a:pPr>
            <a:r>
              <a:t>ExcelR Edtech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The Problem: E-Waste Is Piling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01568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783080"/>
            <a:ext cx="777240" cy="777240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⚠️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285292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0F3D2E"/>
                </a:solidFill>
                <a:latin typeface="Cambria"/>
              </a:defRPr>
            </a:pPr>
            <a:r>
              <a:t>Hazardous Materials</a:t>
            </a:r>
          </a:p>
          <a:p>
            <a:pPr>
              <a:defRPr sz="1400">
                <a:solidFill>
                  <a:srgbClr val="12261D"/>
                </a:solidFill>
                <a:latin typeface="Calibri"/>
              </a:defRPr>
            </a:pPr>
            <a:r>
              <a:t>Lead, mercury, cadmium and lithium leach into soil and water tables, causing severe ecosystem damage.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01568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0" y="1783080"/>
            <a:ext cx="777240" cy="777240"/>
          </a:xfrm>
          <a:prstGeom prst="ellipse">
            <a:avLst/>
          </a:prstGeom>
          <a:solidFill>
            <a:srgbClr val="F2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285292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0F3D2E"/>
                </a:solidFill>
                <a:latin typeface="Cambria"/>
              </a:defRPr>
            </a:pPr>
            <a:r>
              <a:t>No Easy Way to Recycle</a:t>
            </a:r>
          </a:p>
          <a:p>
            <a:pPr>
              <a:defRPr sz="1400">
                <a:solidFill>
                  <a:srgbClr val="12261D"/>
                </a:solidFill>
                <a:latin typeface="Calibri"/>
              </a:defRPr>
            </a:pPr>
            <a:r>
              <a:t>Citizens do not know where verified recycling centres exist, and there is zero doorstep collection logistics.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01568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0" y="1783080"/>
            <a:ext cx="777240" cy="777240"/>
          </a:xfrm>
          <a:prstGeom prst="ellipse">
            <a:avLst/>
          </a:prstGeom>
          <a:solidFill>
            <a:srgbClr val="5F74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43200"/>
            <a:ext cx="285292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0F3D2E"/>
                </a:solidFill>
                <a:latin typeface="Cambria"/>
              </a:defRPr>
            </a:pPr>
            <a:r>
              <a:t>Low Awareness</a:t>
            </a:r>
          </a:p>
          <a:p>
            <a:pPr>
              <a:defRPr sz="1400">
                <a:solidFill>
                  <a:srgbClr val="12261D"/>
                </a:solidFill>
                <a:latin typeface="Calibri"/>
              </a:defRPr>
            </a:pPr>
            <a:r>
              <a:t>People are unaware of e-waste hazards, safe disposal guidelines, or their personal carbon footprint.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728655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Result: Millions of tonnes of e-waste end up in municipal bins and landfills, not at certified recyclers.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Our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64592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27632"/>
            <a:ext cx="87169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3D2E"/>
                </a:solidFill>
                <a:latin typeface="Calibri"/>
              </a:defRPr>
            </a:pPr>
            <a:r>
              <a:t>Connect citizens directly with verified recycling centres through interactive GIS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24328"/>
            <a:ext cx="10728655" cy="9601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807208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788920"/>
            <a:ext cx="87169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3D2E"/>
                </a:solidFill>
                <a:latin typeface="Calibri"/>
              </a:defRPr>
            </a:pPr>
            <a:r>
              <a:t>Make doorstep e-waste pickup booking frictionless with instant email receipts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85616"/>
            <a:ext cx="10728655" cy="9601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968496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950208"/>
            <a:ext cx="87169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3D2E"/>
                </a:solidFill>
                <a:latin typeface="Calibri"/>
              </a:defRPr>
            </a:pPr>
            <a:r>
              <a:t>Quantify environmental impact (CO₂ saved &amp; mass diverted) using empirical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46904"/>
            <a:ext cx="10728655" cy="9601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5129784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11496"/>
            <a:ext cx="87169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3D2E"/>
                </a:solidFill>
                <a:latin typeface="Calibri"/>
              </a:defRPr>
            </a:pPr>
            <a:r>
              <a:t>Educate communities about e-waste hazards through interactive literacy quizzes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Our Solution: EcoCycle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108960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783080"/>
            <a:ext cx="777240" cy="7772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3D2E"/>
                </a:solidFill>
                <a:latin typeface="Cambria"/>
              </a:defRPr>
            </a:pPr>
            <a:r>
              <a:t>1. Locate</a:t>
            </a:r>
          </a:p>
          <a:p>
            <a:pPr>
              <a:defRPr sz="1400">
                <a:solidFill>
                  <a:srgbClr val="12261D"/>
                </a:solidFill>
                <a:latin typeface="Calibri"/>
              </a:defRPr>
            </a:pPr>
            <a:r>
              <a:t>Find verified recyclers on an interactive Leaflet map across Mandya and Bangalore.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3108960"/>
            <a:ext cx="548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2B134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35424" y="1463040"/>
            <a:ext cx="3108960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09744" y="1783080"/>
            <a:ext cx="777240" cy="7772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9744" y="274320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3D2E"/>
                </a:solidFill>
                <a:latin typeface="Cambria"/>
              </a:defRPr>
            </a:pPr>
            <a:r>
              <a:t>2. Schedule</a:t>
            </a:r>
          </a:p>
          <a:p>
            <a:pPr>
              <a:defRPr sz="1400">
                <a:solidFill>
                  <a:srgbClr val="12261D"/>
                </a:solidFill>
                <a:latin typeface="Calibri"/>
              </a:defRPr>
            </a:pPr>
            <a:r>
              <a:t>Book a doorstep collection with category selection and date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4112" y="3108960"/>
            <a:ext cx="548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2B134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328" y="1463040"/>
            <a:ext cx="3108960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3648" y="1783080"/>
            <a:ext cx="777240" cy="77724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74320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3D2E"/>
                </a:solidFill>
                <a:latin typeface="Cambria"/>
              </a:defRPr>
            </a:pPr>
            <a:r>
              <a:t>3. Track</a:t>
            </a:r>
          </a:p>
          <a:p>
            <a:pPr>
              <a:defRPr sz="1400">
                <a:solidFill>
                  <a:srgbClr val="12261D"/>
                </a:solidFill>
                <a:latin typeface="Calibri"/>
              </a:defRPr>
            </a:pPr>
            <a:r>
              <a:t>Follow your request from pending to collected with automated email alerts.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760720"/>
            <a:ext cx="10728655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+ Learn &amp; measure: an interactive awareness quiz and live impact dashboard keep users engaged.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01568" cy="219456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60020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536192"/>
            <a:ext cx="23500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Recycler Locator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Interactive map with Mandya &amp; Bangalore filters and instant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401568" cy="219456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7720" y="160020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536192"/>
            <a:ext cx="23500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Doorstep Pickup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Book collection with item categorization and advance date selection.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401568" cy="219456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1536192"/>
            <a:ext cx="23500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Pickup Tracking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Live status timeline from pending to in-transit to collected.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01568" cy="219456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402336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59352"/>
            <a:ext cx="23500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Impact Analytics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Real-time CO₂ offset metrics, tree equivalents, and Chart.js visuals.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94760"/>
            <a:ext cx="3401568" cy="219456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17720" y="402336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959352"/>
            <a:ext cx="23500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Awareness Quiz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Interactive hazard guide with 5-question community quiz engine.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794760"/>
            <a:ext cx="3401568" cy="219456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5320" y="4023360"/>
            <a:ext cx="594360" cy="59436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3959352"/>
            <a:ext cx="23500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3D2E"/>
                </a:solidFill>
                <a:latin typeface="Cambria"/>
              </a:defRPr>
            </a:pPr>
            <a:r>
              <a:t>Admin Portal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Triage pickups, filter by user email, and manage centers (CRUD).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011680" cy="46634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0"/>
              </a:spcAft>
              <a:defRPr sz="1800" b="1">
                <a:solidFill>
                  <a:srgbClr val="0F3D2E"/>
                </a:solidFill>
                <a:latin typeface="Cambria"/>
              </a:defRPr>
            </a:pPr>
            <a:r>
              <a:t>Users</a:t>
            </a:r>
          </a:p>
          <a:p>
            <a:pPr algn="ctr">
              <a:spcAft>
                <a:spcPts val="2400"/>
              </a:spcAft>
              <a:defRPr sz="1500" b="1">
                <a:solidFill>
                  <a:srgbClr val="12261D"/>
                </a:solidFill>
                <a:latin typeface="Calibri"/>
              </a:defRPr>
            </a:pPr>
            <a:r>
              <a:t>👤</a:t>
            </a:r>
            <a:br/>
            <a:r>
              <a:t>Citizen</a:t>
            </a:r>
          </a:p>
          <a:p>
            <a:pPr algn="ctr">
              <a:defRPr sz="1500" b="1">
                <a:solidFill>
                  <a:srgbClr val="1C7C54"/>
                </a:solidFill>
                <a:latin typeface="Calibri"/>
              </a:defRPr>
            </a:pPr>
            <a:r>
              <a:t>🛡️</a:t>
            </a:r>
            <a:br/>
            <a: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3291840"/>
            <a:ext cx="457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2B134"/>
                </a:solidFill>
              </a:defRPr>
            </a:pPr>
            <a:r>
              <a:t>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71600"/>
            <a:ext cx="3931920" cy="466344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sz="1800" b="1">
                <a:solidFill>
                  <a:srgbClr val="F2B134"/>
                </a:solidFill>
                <a:latin typeface="Cambria"/>
              </a:defRPr>
            </a:pPr>
            <a:r>
              <a:t>Dual Frontend Interfaces</a:t>
            </a:r>
          </a:p>
          <a:p>
            <a:pPr>
              <a:defRPr sz="1400" b="1">
                <a:solidFill>
                  <a:srgbClr val="38C280"/>
                </a:solidFill>
                <a:latin typeface="Calibri"/>
              </a:defRPr>
            </a:pPr>
            <a:r>
              <a:t>🌿 Pure Vanilla Web (8 Pages)</a:t>
            </a:r>
          </a:p>
          <a:p>
            <a:pPr>
              <a:spcAft>
                <a:spcPts val="1600"/>
              </a:spcAft>
              <a:defRPr sz="1200">
                <a:solidFill>
                  <a:srgbClr val="E6F4EC"/>
                </a:solidFill>
                <a:latin typeface="Calibri"/>
              </a:defRPr>
            </a:pPr>
            <a:r>
              <a:t>• HTML5 Semantic Structure</a:t>
            </a:r>
            <a:br/>
            <a:r>
              <a:t>• Custom CSS3 Grid &amp; Flexbox</a:t>
            </a:r>
            <a:br/>
            <a:r>
              <a:t>• Vanilla ES6+ Controllers</a:t>
            </a:r>
            <a:br/>
            <a:r>
              <a:t>• Zero Build Tools Needed</a:t>
            </a:r>
          </a:p>
          <a:p>
            <a:pPr>
              <a:defRPr sz="1400" b="1">
                <a:solidFill>
                  <a:srgbClr val="38BDF8"/>
                </a:solidFill>
                <a:latin typeface="Calibri"/>
              </a:defRPr>
            </a:pPr>
            <a:r>
              <a:t>⚛️ React 18 SPA Edition</a:t>
            </a:r>
          </a:p>
          <a:p>
            <a:pPr>
              <a:defRPr sz="1200">
                <a:solidFill>
                  <a:srgbClr val="E6F4EC"/>
                </a:solidFill>
                <a:latin typeface="Calibri"/>
              </a:defRPr>
            </a:pPr>
            <a:r>
              <a:t>• Vite Modern Bundler</a:t>
            </a:r>
            <a:br/>
            <a:r>
              <a:t>• Tailwind CSS Utility Classes</a:t>
            </a:r>
            <a:br/>
            <a:r>
              <a:t>• Lucide Vector Icons</a:t>
            </a:r>
            <a:br/>
            <a:r>
              <a:t>• Client-Side Protected Routes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91840"/>
            <a:ext cx="457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2B134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7472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59" y="1554480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🗄️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399" y="1536192"/>
            <a:ext cx="2377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Supabase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Auth + PostgreSQL 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587752"/>
            <a:ext cx="347472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38159" y="2770632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🗺️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2752344"/>
            <a:ext cx="2377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Leaflet + OSM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Maps &amp; free vector tiles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3803904"/>
            <a:ext cx="347472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38159" y="3986784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399" y="3968496"/>
            <a:ext cx="2377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Chart.js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Impact charts via CDN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5020056"/>
            <a:ext cx="347472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59" y="5202936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✉️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399" y="5184648"/>
            <a:ext cx="2377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EmailJS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Live status email 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Tech Stack (100% Free Tier Cloud)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554480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517904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Frontend Interfaces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React 18 SPA + Pure Vanilla HTML5/ES6+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28232" y="1554480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🗺️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1517904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Geospatial Mapping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Leaflet.js + OpenStreetMap Vector Tiles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78608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761488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724912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Styling System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Tailwind CSS + Custom CSS3 Variables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578608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8232" y="2761488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724912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Analytics Engine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Chart.js + Empirical Carbon LCA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85616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968496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⚙️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931920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Application Logic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Modular ES6+ JavaScript &amp; React Hooks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785616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8232" y="3968496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✉️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931920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Real-Time Alerts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EmailJS Browser SDK (Direct Dispatch)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92624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175504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🗄️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138928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Database &amp; Security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Supabase (PostgreSQL 15 + RLS Policies)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4992624"/>
            <a:ext cx="5212080" cy="100584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8232" y="5175504"/>
            <a:ext cx="640080" cy="64008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138928"/>
            <a:ext cx="4114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3D2E"/>
                </a:solidFill>
                <a:latin typeface="Calibri"/>
              </a:defRPr>
            </a:pPr>
            <a:r>
              <a:t>Cloud Edge Hosting</a:t>
            </a:r>
          </a:p>
          <a:p>
            <a:pPr>
              <a:defRPr sz="1200">
                <a:solidFill>
                  <a:srgbClr val="5F7469"/>
                </a:solidFill>
                <a:latin typeface="Calibri"/>
              </a:defRPr>
            </a:pPr>
            <a:r>
              <a:t>Vercel Global Edge + GitHub Pages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Database Design (Supabase PostgreSQL)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01568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3035808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profiles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294436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id: </a:t>
            </a:r>
            <a:r>
              <a:rPr b="0">
                <a:solidFill>
                  <a:srgbClr val="12261D"/>
                </a:solidFill>
              </a:rPr>
              <a:t>uuid → auth.users (PK)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email: </a:t>
            </a:r>
            <a:r>
              <a:rPr b="0">
                <a:solidFill>
                  <a:srgbClr val="12261D"/>
                </a:solidFill>
              </a:rPr>
              <a:t>text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role: </a:t>
            </a:r>
            <a:r>
              <a:rPr b="0">
                <a:solidFill>
                  <a:srgbClr val="12261D"/>
                </a:solidFill>
              </a:rPr>
              <a:t>'user' | 'admin'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created_at: </a:t>
            </a:r>
            <a:r>
              <a:rPr b="0">
                <a:solidFill>
                  <a:srgbClr val="12261D"/>
                </a:solidFill>
              </a:rPr>
              <a:t>timestamptz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01568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45920"/>
            <a:ext cx="3035808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recyclers / centers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286000"/>
            <a:ext cx="294436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id: </a:t>
            </a:r>
            <a:r>
              <a:rPr b="0">
                <a:solidFill>
                  <a:srgbClr val="12261D"/>
                </a:solidFill>
              </a:rPr>
              <a:t>uuid (PK)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name, city, address: </a:t>
            </a:r>
            <a:r>
              <a:rPr b="0">
                <a:solidFill>
                  <a:srgbClr val="12261D"/>
                </a:solidFill>
              </a:rPr>
              <a:t>text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lat, lng: </a:t>
            </a:r>
            <a:r>
              <a:rPr b="0">
                <a:solidFill>
                  <a:srgbClr val="12261D"/>
                </a:solidFill>
              </a:rPr>
              <a:t>float8 (GPS)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accepts: </a:t>
            </a:r>
            <a:r>
              <a:rPr b="0">
                <a:solidFill>
                  <a:srgbClr val="12261D"/>
                </a:solidFill>
              </a:rPr>
              <a:t>text[] (categories)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01568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1645920"/>
            <a:ext cx="3035808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pickups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286000"/>
            <a:ext cx="294436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id: </a:t>
            </a:r>
            <a:r>
              <a:rPr b="0">
                <a:solidFill>
                  <a:srgbClr val="12261D"/>
                </a:solidFill>
              </a:rPr>
              <a:t>uuid (PK)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user_id: </a:t>
            </a:r>
            <a:r>
              <a:rPr b="0">
                <a:solidFill>
                  <a:srgbClr val="12261D"/>
                </a:solidFill>
              </a:rPr>
              <a:t>uuid → auth.users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item_type, quantity: </a:t>
            </a:r>
            <a:r>
              <a:rPr b="0">
                <a:solidFill>
                  <a:srgbClr val="12261D"/>
                </a:solidFill>
              </a:rPr>
              <a:t>text, integer</a:t>
            </a:r>
          </a:p>
          <a:p>
            <a:pPr>
              <a:spcAft>
                <a:spcPts val="1000"/>
              </a:spcAft>
              <a:defRPr sz="1200" b="1">
                <a:solidFill>
                  <a:srgbClr val="0F3D2E"/>
                </a:solidFill>
                <a:latin typeface="Consolas"/>
              </a:defRPr>
            </a:pPr>
            <a:r>
              <a:t>• pickup_date, address, status: </a:t>
            </a:r>
            <a:r>
              <a:rPr b="0">
                <a:solidFill>
                  <a:srgbClr val="12261D"/>
                </a:solidFill>
              </a:rPr>
              <a:t>date, text,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728655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Secured with Row Level Security (RLS) + JWT authentication. Joins handled in JS to avoid PGRST200 schema cache errors.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Two Roles, One Unified Portal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691640"/>
            <a:ext cx="4754880" cy="594360"/>
          </a:xfrm>
          <a:prstGeom prst="roundRect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👤 Citizen (User)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Find certified recyclers on the interactive map</a:t>
            </a:r>
          </a:p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Book a scheduled doorstep e-waste collection</a:t>
            </a:r>
          </a:p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Track real-time status &amp; view impact metrics</a:t>
            </a:r>
          </a:p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Test knowledge with the interactive quiz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463040"/>
            <a:ext cx="5212080" cy="393192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73952" y="1691640"/>
            <a:ext cx="4754880" cy="594360"/>
          </a:xfrm>
          <a:prstGeom prst="roundRect">
            <a:avLst/>
          </a:prstGeom>
          <a:solidFill>
            <a:srgbClr val="1C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🛡️ Admin / Facility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Triage and inspect all customer pickup requests</a:t>
            </a:r>
          </a:p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Filter and search pickups by customer email</a:t>
            </a:r>
          </a:p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Update pickup status (pending → collected)</a:t>
            </a:r>
          </a:p>
          <a:p>
            <a:pPr>
              <a:spcAft>
                <a:spcPts val="1400"/>
              </a:spcAft>
              <a:defRPr sz="1400">
                <a:solidFill>
                  <a:srgbClr val="12261D"/>
                </a:solidFill>
                <a:latin typeface="Calibri"/>
              </a:defRPr>
            </a:pPr>
            <a:r>
              <a:t>✔   Add, edit, and delete recycling centres (CRUD)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60720"/>
            <a:ext cx="10728655" cy="50292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Secure sign-in via Supabase Auth with client-side role guards on all admin views.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Impact &amp;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87168" cy="29260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21284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3800" b="1">
                <a:solidFill>
                  <a:srgbClr val="1C7C54"/>
                </a:solidFill>
                <a:latin typeface="Cambria"/>
              </a:defRPr>
            </a:pPr>
            <a:r>
              <a:t>~15 kg</a:t>
            </a:r>
          </a:p>
          <a:p>
            <a:pPr algn="ctr">
              <a:defRPr sz="1300">
                <a:solidFill>
                  <a:srgbClr val="12261D"/>
                </a:solidFill>
                <a:latin typeface="Calibri"/>
              </a:defRPr>
            </a:pPr>
            <a:r>
              <a:t>CO₂ saved per recycled device (empirical model)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87168" cy="29260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920240"/>
            <a:ext cx="221284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3800" b="1">
                <a:solidFill>
                  <a:srgbClr val="1C7C54"/>
                </a:solidFill>
                <a:latin typeface="Cambria"/>
              </a:defRPr>
            </a:pPr>
            <a:r>
              <a:t>2</a:t>
            </a:r>
          </a:p>
          <a:p>
            <a:pPr algn="ctr">
              <a:defRPr sz="1300">
                <a:solidFill>
                  <a:srgbClr val="12261D"/>
                </a:solidFill>
                <a:latin typeface="Calibri"/>
              </a:defRPr>
            </a:pPr>
            <a:r>
              <a:t>Cities mapped: Mandya &amp; Bangalore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487168" cy="29260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221284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3800" b="1">
                <a:solidFill>
                  <a:srgbClr val="1C7C54"/>
                </a:solidFill>
                <a:latin typeface="Cambria"/>
              </a:defRPr>
            </a:pPr>
            <a:r>
              <a:t>2</a:t>
            </a:r>
          </a:p>
          <a:p>
            <a:pPr algn="ctr">
              <a:defRPr sz="1300">
                <a:solidFill>
                  <a:srgbClr val="12261D"/>
                </a:solidFill>
                <a:latin typeface="Calibri"/>
              </a:defRPr>
            </a:pPr>
            <a:r>
              <a:t>Live Deployments: React SPA + Vanilla 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463040"/>
            <a:ext cx="2487168" cy="29260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920240"/>
            <a:ext cx="221284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3800" b="1">
                <a:solidFill>
                  <a:srgbClr val="1C7C54"/>
                </a:solidFill>
                <a:latin typeface="Cambria"/>
              </a:defRPr>
            </a:pPr>
            <a:r>
              <a:t>₹0</a:t>
            </a:r>
          </a:p>
          <a:p>
            <a:pPr algn="ctr">
              <a:defRPr sz="1300">
                <a:solidFill>
                  <a:srgbClr val="12261D"/>
                </a:solidFill>
                <a:latin typeface="Calibri"/>
              </a:defRPr>
            </a:pPr>
            <a:r>
              <a:t>Running cost: 100% free cloud services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10728655" cy="1371600"/>
          </a:xfrm>
          <a:prstGeom prst="round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4892040"/>
            <a:ext cx="914400" cy="91440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84632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2B134"/>
                </a:solidFill>
                <a:latin typeface="Calibri"/>
              </a:defRPr>
            </a:pPr>
            <a:r>
              <a:t>Supports UN SDG 12: Responsible Consumption &amp; Production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Promotes formal recycling, recovers valuable precious metals, and prevents soil and water toxicity.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3D2E"/>
                </a:solidFill>
                <a:latin typeface="Cambria"/>
              </a:defRPr>
            </a:pPr>
            <a:r>
              <a:t>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0116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737360"/>
            <a:ext cx="685800" cy="68580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69164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F3D2E"/>
                </a:solidFill>
                <a:latin typeface="Cambria"/>
              </a:defRPr>
            </a:pPr>
            <a:r>
              <a:t>Progressive Web App (PWA)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Installable offline-first mobile app for instant one-tap collection bookings.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463040"/>
            <a:ext cx="5212080" cy="20116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73952" y="1737360"/>
            <a:ext cx="685800" cy="685800"/>
          </a:xfrm>
          <a:prstGeom prst="ellipse">
            <a:avLst/>
          </a:prstGeom>
          <a:solidFill>
            <a:srgbClr val="1C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🏙️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6912" y="169164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F3D2E"/>
                </a:solidFill>
                <a:latin typeface="Cambria"/>
              </a:defRPr>
            </a:pPr>
            <a:r>
              <a:t>Multi-City Expansion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Onboard authorized recyclers across Mysore, Hubli, and other regional hubs.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40"/>
            <a:ext cx="5212080" cy="20116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4023360"/>
            <a:ext cx="685800" cy="685800"/>
          </a:xfrm>
          <a:prstGeom prst="ellipse">
            <a:avLst/>
          </a:prstGeom>
          <a:solidFill>
            <a:srgbClr val="2FA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97764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F3D2E"/>
                </a:solidFill>
                <a:latin typeface="Cambria"/>
              </a:defRPr>
            </a:pPr>
            <a:r>
              <a:t>IoT Drop-Box Telemetry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Smart bin ultrasonic fill-level sensors with automated collection route dispatch.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749040"/>
            <a:ext cx="5212080" cy="2011680"/>
          </a:xfrm>
          <a:prstGeom prst="roundRect">
            <a:avLst/>
          </a:prstGeom>
          <a:solidFill>
            <a:srgbClr val="E6F4EC"/>
          </a:solidFill>
          <a:ln>
            <a:solidFill>
              <a:srgbClr val="C8E6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2" y="4023360"/>
            <a:ext cx="685800" cy="685800"/>
          </a:xfrm>
          <a:prstGeom prst="ellipse">
            <a:avLst/>
          </a:prstGeom>
          <a:solidFill>
            <a:srgbClr val="1C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397764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F3D2E"/>
                </a:solidFill>
                <a:latin typeface="Cambria"/>
              </a:defRPr>
            </a:pPr>
            <a:r>
              <a:t>Reward Points &amp; Green Credits</a:t>
            </a:r>
          </a:p>
          <a:p>
            <a:pPr>
              <a:defRPr sz="1300">
                <a:solidFill>
                  <a:srgbClr val="12261D"/>
                </a:solidFill>
                <a:latin typeface="Calibri"/>
              </a:defRPr>
            </a:pPr>
            <a:r>
              <a:t>Gamified incentives and redeemable vouchers for responsible e-waste disposal.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F7469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7469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772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5000" b="1">
                <a:solidFill>
                  <a:srgbClr val="FFFFFF"/>
                </a:solidFill>
                <a:latin typeface="Cambria"/>
              </a:defRPr>
            </a:pPr>
            <a:r>
              <a:t>Thank You</a:t>
            </a:r>
          </a:p>
          <a:p>
            <a:pPr>
              <a:spcAft>
                <a:spcPts val="2000"/>
              </a:spcAft>
              <a:defRPr sz="2000">
                <a:solidFill>
                  <a:srgbClr val="E6F4EC"/>
                </a:solidFill>
                <a:latin typeface="Calibri"/>
              </a:defRPr>
            </a:pPr>
            <a:r>
              <a:t>Questions &amp; Discussion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F2B134"/>
                </a:solidFill>
              </a:rPr>
              <a:t>🌿 Vanilla Web App: </a:t>
            </a:r>
            <a:r>
              <a:rPr sz="1200">
                <a:solidFill>
                  <a:srgbClr val="FFFFFF"/>
                </a:solidFill>
              </a:rPr>
              <a:t>https://ecocycle-vanilla.vercel.app/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F2B134"/>
                </a:solidFill>
              </a:rPr>
              <a:t>⚛️ React SPA Edition: </a:t>
            </a:r>
            <a:r>
              <a:rPr sz="1200">
                <a:solidFill>
                  <a:srgbClr val="FFFFFF"/>
                </a:solidFill>
              </a:rPr>
              <a:t>https://ecocycle-beryl.vercel.app/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F2B134"/>
                </a:solidFill>
              </a:rPr>
              <a:t>🌐 GitHub Pages Mirror: </a:t>
            </a:r>
            <a:r>
              <a:rPr sz="1200">
                <a:solidFill>
                  <a:srgbClr val="FFFFFF"/>
                </a:solidFill>
              </a:rPr>
              <a:t>https://chandan-bk.github.io/ecocycle-vanilla/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F2B134"/>
                </a:solidFill>
              </a:rPr>
              <a:t>📦 GitHub (Vanilla): </a:t>
            </a:r>
            <a:r>
              <a:rPr sz="1200">
                <a:solidFill>
                  <a:srgbClr val="FFFFFF"/>
                </a:solidFill>
              </a:rPr>
              <a:t>https://github.com/chandan-bk/ecocycle-vanilla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F2B134"/>
                </a:solidFill>
              </a:rPr>
              <a:t>📦 GitHub (React): </a:t>
            </a:r>
            <a:r>
              <a:rPr sz="1200">
                <a:solidFill>
                  <a:srgbClr val="FFFFFF"/>
                </a:solidFill>
              </a:rPr>
              <a:t>https://github.com/chandan-bk/ecocycle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F2B134"/>
                </a:solidFill>
              </a:rPr>
              <a:t>🗄️ Supabase Cloud DB: </a:t>
            </a:r>
            <a:r>
              <a:rPr sz="1200">
                <a:solidFill>
                  <a:srgbClr val="FFFFFF"/>
                </a:solidFill>
              </a:rPr>
              <a:t>PostgreSQL 15 (RLS Active)</a:t>
            </a:r>
          </a:p>
          <a:p>
            <a:pPr>
              <a:spcBef>
                <a:spcPts val="1400"/>
              </a:spcBef>
              <a:spcAft>
                <a:spcPts val="200"/>
              </a:spcAft>
              <a:defRPr sz="1300" b="1">
                <a:solidFill>
                  <a:srgbClr val="F2B134"/>
                </a:solidFill>
                <a:latin typeface="Calibri"/>
              </a:defRPr>
            </a:pPr>
            <a:r>
              <a:t>Web Development Foundations · Dept. of CSE, PES College of Engineering, Mandya</a:t>
            </a:r>
          </a:p>
          <a:p>
            <a:pPr>
              <a:defRPr sz="1200">
                <a:solidFill>
                  <a:srgbClr val="C8EBD7"/>
                </a:solidFill>
                <a:latin typeface="Calibri"/>
              </a:defRPr>
            </a:pPr>
            <a:r>
              <a:t>In collaboration with ExcelR Edtech Pvt. Ltd., Bengaluru · 12–16 Oct 2026</a:t>
            </a:r>
          </a:p>
        </p:txBody>
      </p:sp>
      <p:sp>
        <p:nvSpPr>
          <p:cNvPr id="4" name="Oval 3"/>
          <p:cNvSpPr/>
          <p:nvPr/>
        </p:nvSpPr>
        <p:spPr>
          <a:xfrm>
            <a:off x="8961120" y="2011680"/>
            <a:ext cx="2377440" cy="2377440"/>
          </a:xfrm>
          <a:prstGeom prst="ellipse">
            <a:avLst/>
          </a:prstGeom>
          <a:solidFill>
            <a:srgbClr val="2FA36B"/>
          </a:solidFill>
          <a:ln w="38100">
            <a:solidFill>
              <a:srgbClr val="3CC8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/>
            </a:pPr>
            <a:r>
              <a:t>♻️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EcoCycle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6F4EC"/>
                </a:solidFill>
                <a:latin typeface="Calibri"/>
              </a:defRPr>
            </a:pPr>
            <a:r>
              <a:t>EcoCycle · Web Development Foundations Program · PESCE &amp; ExcelR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E6F4EC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