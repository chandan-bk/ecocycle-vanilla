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🌱 SUSTAINABLE E-WASTE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EcoCycle: Smart E-Waste Management</a:t>
            </a:r>
            <a:br/>
            <a:r>
              <a:t>&amp; Circular Economy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Segoe UI"/>
              </a:defRPr>
            </a:pPr>
            <a:r>
              <a:t>Cloud-Enabled Doorstep Pickup Logistics, Certified Recycler GIS Mapping,</a:t>
            </a:r>
            <a:br/>
            <a:r>
              <a:t>Empirical Carbon Offset Analytics &amp; Unified Multi-Channel Communication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931920"/>
            <a:ext cx="1005840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69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PROJECT TEAM (4 MEMBERS):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Chandan B K  (Lead Architect —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Team Member 2  (Frontend &amp; Leaflet GIS Specialist)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Team Member 3  (Backend &amp; EmailJS Systems Engineer)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Team Member 4  (Data Analytics &amp; Environmental Modeling)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0690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PROJECT AUTHOR &amp; ACADEMICS: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Author: Chandan B K (2nd Semester CSE Student)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Department of Computer Science &amp; Engineering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Project Guide: Prof. [Guide Name / Designation]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Academic Year: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CONTRIBUTORS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Team Members &amp; Division of Technical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Equal distribution of architecture, frontend, backend integration, and empirical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Chandan B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Lead &amp; Full-Stack Architect (2nd Sem CSE)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USN: [Your USN / Roll No]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Overall Platform Design &amp; System Architecture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Supabase PostgreSQL 15 DB Schema &amp; BaaS Integration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 &amp; Role-Based Auth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Cross-edition parity (React SPA &amp; Pure Vanilla Web)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Team 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Frontend &amp; UI/UX Specialist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USN: [Member 2 USN / Roll No]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Recycler Locator &amp; Leaflet GIS Mapping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Dynamic Category &amp; City Filtering System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Responsive Mobile-First UI/UX &amp; Accessible CSS3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Card Layouts, Modal Dialogs &amp; Component Design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Team Member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Backend &amp; Integration Engineer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USN: [Member 3 USN / Roll No]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4224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Unified EmailJS Transactional Dispatch Pipeline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Doorstep Pickup Scheduling &amp; Status Validation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Administrative Operations Portal &amp; Triage Workflows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REST API Integration &amp; Cloud Session Synchronization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Team Member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Data Analyst &amp; Environmental Modeler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USN: [Member 4 USN / Roll No]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89136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89136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Carbon Offset &amp; Landfill Diversion Mathematical Model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Calculations (1.44 kg CO2e / 21.8 kg Tree-Year)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Community Literacy Quiz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System Testing, Comprehensive Documentation &amp; User Guides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INTRODUCTION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E-Waste Crisis &amp; The Circular Economy Imperative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Understanding the shift from Linear Consumption to Sustainable Resource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The Surge of Discarded Electronics</a:t>
            </a:r>
            <a:r>
              <a:rPr>
                <a:solidFill>
                  <a:srgbClr val="334155"/>
                </a:solidFill>
              </a:rPr>
              <a:t>• Rapid technological obsolescence and short device replacement lifecycles.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 62 Million Metric Tonnes (Mt) of e-waste generated globally every year.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Annual generation is accelerating at 2.6 Mt per year towards 82 Mt by 2030.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India ranks as the world's 3rd largest e-waste generator (&gt;1.7 Mt/year).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Regulatory &amp; Circular Economy Framework</a:t>
            </a:r>
            <a:r>
              <a:rPr b="1">
                <a:solidFill>
                  <a:srgbClr val="0F172A"/>
                </a:solidFill>
              </a:rPr>
              <a:t>• Linear Economy:</a:t>
            </a:r>
            <a:r>
              <a:rPr>
                <a:solidFill>
                  <a:srgbClr val="334155"/>
                </a:solidFill>
              </a:rPr>
              <a:t> 'Take → Make → Dispose' model leads to total resource depletion.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Circular Economy:</a:t>
            </a:r>
            <a:r>
              <a:rPr>
                <a:solidFill>
                  <a:srgbClr val="334155"/>
                </a:solidFill>
              </a:rPr>
              <a:t> 'Collect → Recover → Reuse' extracts high-purity gold, copper &amp; rare earths.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EPR Mandate (India):</a:t>
            </a:r>
            <a:r>
              <a:rPr>
                <a:solidFill>
                  <a:srgbClr val="334155"/>
                </a:solidFill>
              </a:rPr>
              <a:t> Extended Producer Responsibility legally obligates OEMs to meet recycling targets.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The Missing Link:</a:t>
            </a:r>
            <a:r>
              <a:rPr>
                <a:solidFill>
                  <a:srgbClr val="334155"/>
                </a:solidFill>
              </a:rPr>
              <a:t> Bridging household convenience with authorized CPCB recyclers.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62 Million Mt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GLOBAL E-WASTE GENERATED ANNUALLY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Only 22.3% is documented as formally recycled worldwide.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B91C1C"/>
                </a:solidFill>
                <a:latin typeface="Segoe UI"/>
              </a:defRPr>
            </a:pPr>
            <a:r>
              <a:t>70% Toxic Hazard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FROM JUST 2% OF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Electronics account for the vast majority of heavy metal contamination.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800x Richer in Gold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THAN RAW EARTH ORE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1 metric ton of PCBs holds up to 800 times more gold than a ton of natural gold 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PROBLEM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The Problem Statement: Key Bottlenecks in E-Waste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Analyzing why existing e-waste recovery systems fail at the consumer and civic level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91C1C"/>
                </a:solidFill>
                <a:latin typeface="Segoe UI"/>
              </a:defRPr>
            </a:pPr>
            <a:r>
              <a:t>⚠️  CRITICAL HAZARD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Environmental Contamination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E-waste accounts for only 2% of garbage volume but &gt;70% of heavy metal landfill toxicity.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Lead (Pb) causes permanent neurological damage; Mercury (Hg) leaches into freshwater aquifers.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Lithium-ion batteries crushed in waste trucks ignite explosive chemical fires.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Brominated flame retardants emit carcinogenic dioxins when openly incinerated.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🏭  UNREGULATED SECTOR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Informal Scrap &amp; Toxic Acid Leaching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8576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&gt;90% of Indian e-waste is absorbed by the unorganized informal scrap ecosystem.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Crude recycling methods: Open burning of cables and cyanide/acid baths for chip extraction.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Massive occupational hazards for informal workers without personal protective equipment (PPE).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Negligible material recovery yields compared to certified industrial hydrometallurgical refiners.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🚪  LOGISTICAL VOID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Consumer Disposal Friction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7032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Visibility:</a:t>
            </a:r>
            <a:r>
              <a:rPr>
                <a:solidFill>
                  <a:srgbClr val="334155"/>
                </a:solidFill>
              </a:rPr>
              <a:t> Citizens have no centralized directory of authorized CPCB collection points.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Logistical Inconvenience:</a:t>
            </a:r>
            <a:r>
              <a:rPr>
                <a:solidFill>
                  <a:srgbClr val="334155"/>
                </a:solidFill>
              </a:rPr>
              <a:t> No standardized on-demand doorstep pickup mechanisms.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 Feedback Loop:</a:t>
            </a:r>
            <a:r>
              <a:rPr>
                <a:solidFill>
                  <a:srgbClr val="334155"/>
                </a:solidFill>
              </a:rPr>
              <a:t> Citizens receive no confirmation or proof of responsible processing.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Digital Awareness Gap:</a:t>
            </a:r>
            <a:r>
              <a:rPr>
                <a:solidFill>
                  <a:srgbClr val="334155"/>
                </a:solidFill>
              </a:rPr>
              <a:t> Most users hoard obsolete devices in drawers, fearing data privacy risks.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EcoCycle: A Unified Cloud E-Waste Recovery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end-to-end digital bridge linking citizens, certified recyclers, and operational logistics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📍 Verified Recycler Locator</a:t>
            </a:r>
            <a:r>
              <a:rPr>
                <a:solidFill>
                  <a:srgbClr val="334155"/>
                </a:solidFill>
              </a:rPr>
              <a:t>• Interactive Leaflet.js mapping with OpenStreetMap tiles.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GIS-POWERED FACILITY DISCOVERY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Multi-criteria filtering by city (Mandya, Bangalore) &amp; accepted gadget categories.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Direct 1-click Google Maps turn-by-turn navigation.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📅 Doorstep Pickup Logistics</a:t>
            </a:r>
            <a:r>
              <a:rPr>
                <a:solidFill>
                  <a:srgbClr val="334155"/>
                </a:solidFill>
              </a:rPr>
              <a:t>• 10 standardized e-waste categories (laptops, phones, appliances, batteries).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FRICTIONLESS COLLECTION BOOKING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Advance date selector, address capture, and custom notes handling.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Personal 'My Pickups' dashboard with real-time status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⚡ Real-Time Email Pipeline</a:t>
            </a:r>
            <a:r>
              <a:rPr>
                <a:solidFill>
                  <a:srgbClr val="334155"/>
                </a:solidFill>
              </a:rPr>
              <a:t>• Unified EmailJS integration without running custom server daemons.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AUTOMATED MULTI-CHANNEL ALERTS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Instant confirmation emails upon booking with date &amp; address receipts.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alert dispatch to customer when admin updates status to 'Collected'.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📊 Empirical Impact Analytics</a:t>
            </a:r>
            <a:r>
              <a:rPr>
                <a:solidFill>
                  <a:srgbClr val="334155"/>
                </a:solidFill>
              </a:rPr>
              <a:t>• Dynamic computation of diverted electronic mass (kg).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DATA-DRIVEN ENVIRONMENTAL ROI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CO2e greenhouse gas reduction formula (1.44 kg CO2e / unit).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Urban mature tree absorption equivalency metrics for gamified motivation.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ARCHITECTURAL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Dual-Implementation Strategy: React SPA &amp; Pure Vanilla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Demonstrating both modern component frameworks and zero-dependency web standards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⚛️ React Modern SPA</a:t>
            </a:r>
            <a:r>
              <a:rPr b="1">
                <a:solidFill>
                  <a:srgbClr val="0F172A"/>
                </a:solidFill>
              </a:rPr>
              <a:t>• React 18 &amp; Vite:</a:t>
            </a:r>
            <a:r>
              <a:rPr>
                <a:solidFill>
                  <a:srgbClr val="334155"/>
                </a:solidFill>
              </a:rPr>
              <a:t> Ultra-fast HMR and optimized asset bundling.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ENTERPRISE COMPONENT ARCHITECTURE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Tailwind CSS:</a:t>
            </a:r>
            <a:r>
              <a:rPr>
                <a:solidFill>
                  <a:srgbClr val="334155"/>
                </a:solidFill>
              </a:rPr>
              <a:t> Utility-first styling with modern design system.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Lucide React:</a:t>
            </a:r>
            <a:r>
              <a:rPr>
                <a:solidFill>
                  <a:srgbClr val="334155"/>
                </a:solidFill>
              </a:rPr>
              <a:t> Consistent SVG iconography across all components.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Client-Side Routing:</a:t>
            </a:r>
            <a:r>
              <a:rPr>
                <a:solidFill>
                  <a:srgbClr val="334155"/>
                </a:solidFill>
              </a:rPr>
              <a:t> Seamless React Router DOM navigation.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Deployment:</a:t>
            </a:r>
            <a:r>
              <a:rPr>
                <a:solidFill>
                  <a:srgbClr val="334155"/>
                </a:solidFill>
              </a:rPr>
              <a:t> Hosted on Vercel Global Edge CDN.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A34A"/>
                </a:solidFill>
                <a:latin typeface="Segoe UI"/>
              </a:defRPr>
            </a:pPr>
            <a:r>
              <a:t>🌿 Pure Vanilla Edition</a:t>
            </a:r>
            <a:r>
              <a:rPr b="1">
                <a:solidFill>
                  <a:srgbClr val="0F172A"/>
                </a:solidFill>
              </a:rPr>
              <a:t>• Standard HTML5 &amp; CSS3:</a:t>
            </a:r>
            <a:r>
              <a:rPr>
                <a:solidFill>
                  <a:srgbClr val="334155"/>
                </a:solidFill>
              </a:rPr>
              <a:t> 100% compliant custom CSS variables &amp; Flexbox.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ZERO FRAMEWORK DEPENDENCIES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Pure ES6+ JavaScript:</a:t>
            </a:r>
            <a:r>
              <a:rPr>
                <a:solidFill>
                  <a:srgbClr val="334155"/>
                </a:solidFill>
              </a:rPr>
              <a:t> Modular DOM controllers, async/await fetch.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Build Tools:</a:t>
            </a:r>
            <a:r>
              <a:rPr>
                <a:solidFill>
                  <a:srgbClr val="334155"/>
                </a:solidFill>
              </a:rPr>
              <a:t> No node_modules, no webpack, no build steps required.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Official CDN Builds:</a:t>
            </a:r>
            <a:r>
              <a:rPr>
                <a:solidFill>
                  <a:srgbClr val="334155"/>
                </a:solidFill>
              </a:rPr>
              <a:t> Supabase JS v2 &amp; Leaflet.js via CDN.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Deployment:</a:t>
            </a:r>
            <a:r>
              <a:rPr>
                <a:solidFill>
                  <a:srgbClr val="334155"/>
                </a:solidFill>
              </a:rPr>
              <a:t> Hosted on Vercel Cloud (https://ecocycle-vanilla.vercel.app/).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D9488"/>
                </a:solidFill>
                <a:latin typeface="Segoe UI"/>
              </a:defRPr>
            </a:pPr>
            <a:r>
              <a:t>☁️ Shared Cloud BaaS</a:t>
            </a:r>
            <a:r>
              <a:rPr b="1">
                <a:solidFill>
                  <a:srgbClr val="0F172A"/>
                </a:solidFill>
              </a:rPr>
              <a:t>• Single PostgreSQL DB:</a:t>
            </a:r>
            <a:r>
              <a:rPr>
                <a:solidFill>
                  <a:srgbClr val="334155"/>
                </a:solidFill>
              </a:rPr>
              <a:t> Shared schema across both React and Vanilla clients.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UNIFIED BACKEND &amp; STATE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Unified EmailJS:</a:t>
            </a:r>
            <a:r>
              <a:rPr>
                <a:solidFill>
                  <a:srgbClr val="334155"/>
                </a:solidFill>
              </a:rPr>
              <a:t> Identical Service (`service_np1cnlg`) &amp; Template (`template_to9738m`).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Row Level Security (RLS):</a:t>
            </a:r>
            <a:r>
              <a:rPr>
                <a:solidFill>
                  <a:srgbClr val="334155"/>
                </a:solidFill>
              </a:rPr>
              <a:t> Database-level access control enforced for both.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Cross-Platform Parity:</a:t>
            </a:r>
            <a:r>
              <a:rPr>
                <a:solidFill>
                  <a:srgbClr val="334155"/>
                </a:solidFill>
              </a:rPr>
              <a:t> Action taken in React displays immediately in Vanilla.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Architectural Advantage:</a:t>
            </a:r>
            <a:r>
              <a:rPr>
                <a:solidFill>
                  <a:srgbClr val="334155"/>
                </a:solidFill>
              </a:rPr>
              <a:t> Demonstrates deep mastery of foundational web standards &amp; modern frameworks.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 Multi-Tier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High-level structural view of Presentation, Application Logic, BaaS Cloud, and Notification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37160" cy="1051560"/>
          </a:xfrm>
          <a:prstGeom prst="round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1: Client Presentation Layer</a:t>
            </a:r>
          </a:p>
          <a:p>
            <a:pPr>
              <a:defRPr sz="900" b="1">
                <a:solidFill>
                  <a:srgbClr val="10A34A"/>
                </a:solidFill>
                <a:latin typeface="Segoe UI"/>
              </a:defRPr>
            </a:pPr>
            <a:r>
              <a:t>USER INTERFACES (DESKTOP &amp; MOBILE)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764792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React Single Page Application (Vite Bundler, Tailwind Utility CSS, Lucide Icons)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Pure Vanilla Web Platform (Custom CSS3 Flexbox/Grid, ES6+ Controllers)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Leaflet.js Geolocation Map View with OpenStreetMap Vector Tiles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52928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852928"/>
            <a:ext cx="137160" cy="10515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944368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2: Application Logic &amp; Security Layer</a:t>
            </a:r>
          </a:p>
          <a:p>
            <a:pPr>
              <a:defRPr sz="900" b="1">
                <a:solidFill>
                  <a:srgbClr val="0D9488"/>
                </a:solidFill>
                <a:latin typeface="Segoe UI"/>
              </a:defRPr>
            </a:pPr>
            <a:r>
              <a:t>BROWSER RUNTIME &amp; CLIENT CONTROLLERS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926080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Auth Guard &amp; Session State Management (`getSession()`, `onAuthStateChange()`)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Role-Based Access Control (RBAC): Customer vs Operations Admin (`ECOADMIN2025`)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Input Validation: Advance pickup date verification, category schema, email syntax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14216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14216"/>
            <a:ext cx="137160" cy="1051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05656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3: Backend-as-a-Service (BaaS) Layer</a:t>
            </a:r>
          </a:p>
          <a:p>
            <a:pPr>
              <a:defRPr sz="900" b="1">
                <a:solidFill>
                  <a:srgbClr val="1E293B"/>
                </a:solidFill>
                <a:latin typeface="Segoe UI"/>
              </a:defRPr>
            </a:pPr>
            <a:r>
              <a:t>SUPABASE CLOUD INFRASTRUCTURE (POSTGRESQL 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087368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`profiles` Table: Role management and profile timestamps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`pickups` Table: Doorstep pickup records, addresses, category metadata, triage status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`recyclers` Table: Verified CPCB facility coordinates (lat/lng), contact info, accepted items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(RLS): Strict database-level isolation policies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75504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175504"/>
            <a:ext cx="13716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66944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4: External Services &amp; Communications Layer</a:t>
            </a:r>
          </a:p>
          <a:p>
            <a:pPr>
              <a:defRPr sz="900" b="1">
                <a:solidFill>
                  <a:srgbClr val="F59E0B"/>
                </a:solidFill>
                <a:latin typeface="Segoe UI"/>
              </a:defRPr>
            </a:pPr>
            <a:r>
              <a:t>TRANSACTIONAL APIS &amp; CLOUD PROVIDERS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248656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Cloud Dispatcher: Automated customer receipts and status update alerts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OpenStreetMap CDN: Geospatial tile rendering and route coordinates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Vercel Cloud Edge Network (Both React &amp; Vanilla Editions)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Relational Database Schema &amp; Row Level Security (RLS)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Engineered on PostgreSQL 15 via Supabase with strict security policy enforcement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4E3B"/>
                </a:solidFill>
                <a:latin typeface="Segoe UI"/>
              </a:defRPr>
            </a:pPr>
            <a:r>
              <a:t>TABLE: pickups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Key, default uuid_generate_v4())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user_id:</a:t>
            </a:r>
            <a:r>
              <a:rPr>
                <a:solidFill>
                  <a:srgbClr val="334155"/>
                </a:solidFill>
              </a:rPr>
              <a:t> UUID (Foreign Key -&gt; auth.users.id)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item_type:</a:t>
            </a:r>
            <a:r>
              <a:rPr>
                <a:solidFill>
                  <a:srgbClr val="334155"/>
                </a:solidFill>
              </a:rPr>
              <a:t> TEXT (Category of electronic device)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quantity:</a:t>
            </a:r>
            <a:r>
              <a:rPr>
                <a:solidFill>
                  <a:srgbClr val="334155"/>
                </a:solidFill>
              </a:rPr>
              <a:t> INTEGER (Units being recycled, min 1)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pickup_date:</a:t>
            </a:r>
            <a:r>
              <a:rPr>
                <a:solidFill>
                  <a:srgbClr val="334155"/>
                </a:solidFill>
              </a:rPr>
              <a:t> DATE (Scheduled collection date)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(Customer doorstep pickup location)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notes:</a:t>
            </a:r>
            <a:r>
              <a:rPr>
                <a:solidFill>
                  <a:srgbClr val="334155"/>
                </a:solidFill>
              </a:rPr>
              <a:t> TEXT (Optional user notes/condition)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status:</a:t>
            </a:r>
            <a:r>
              <a:rPr>
                <a:solidFill>
                  <a:srgbClr val="334155"/>
                </a:solidFill>
              </a:rPr>
              <a:t> TEXT ('pending' | 'scheduled' | 'collected' | 'cancelled')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 (Auto-generated timestamp)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TABLE: recyclers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name:</a:t>
            </a:r>
            <a:r>
              <a:rPr>
                <a:solidFill>
                  <a:srgbClr val="334155"/>
                </a:solidFill>
              </a:rPr>
              <a:t> TEXT (Official facility trading name)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(Street and municipal address)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city:</a:t>
            </a:r>
            <a:r>
              <a:rPr>
                <a:solidFill>
                  <a:srgbClr val="334155"/>
                </a:solidFill>
              </a:rPr>
              <a:t> TEXT (Operational zone: Mandya, Bangalore)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lat:</a:t>
            </a:r>
            <a:r>
              <a:rPr>
                <a:solidFill>
                  <a:srgbClr val="334155"/>
                </a:solidFill>
              </a:rPr>
              <a:t> FLOAT8 (Latitude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lng:</a:t>
            </a:r>
            <a:r>
              <a:rPr>
                <a:solidFill>
                  <a:srgbClr val="334155"/>
                </a:solidFill>
              </a:rPr>
              <a:t> FLOAT8 (Longitude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contact:</a:t>
            </a:r>
            <a:r>
              <a:rPr>
                <a:solidFill>
                  <a:srgbClr val="334155"/>
                </a:solidFill>
              </a:rPr>
              <a:t> TEXT (Phone and official helpline)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accepts:</a:t>
            </a:r>
            <a:r>
              <a:rPr>
                <a:solidFill>
                  <a:srgbClr val="334155"/>
                </a:solidFill>
              </a:rPr>
              <a:t> TEXT[] (Array of certified e-waste streams: Smartphones, Laptops, Batteries, etc.)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30449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ROW LEVEL SECURITY</a:t>
            </a:r>
            <a:r>
              <a:rPr b="1">
                <a:solidFill>
                  <a:srgbClr val="0F172A"/>
                </a:solidFill>
              </a:rPr>
              <a:t>• Customer Isolation:</a:t>
            </a:r>
            <a:r>
              <a:rPr>
                <a:solidFill>
                  <a:srgbClr val="334155"/>
                </a:solidFill>
              </a:rPr>
              <a:t> `auth.uid() = user_id` ensures citizens can only query and view their own personal pickup bookings.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Public Recycler Access:</a:t>
            </a:r>
            <a:r>
              <a:rPr>
                <a:solidFill>
                  <a:srgbClr val="334155"/>
                </a:solidFill>
              </a:rPr>
              <a:t> Unrestricted `SELECT` policy allows all users to discover centers without requiring authentication.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Admin Privilege Clearance:</a:t>
            </a:r>
            <a:r>
              <a:rPr>
                <a:solidFill>
                  <a:srgbClr val="334155"/>
                </a:solidFill>
              </a:rPr>
              <a:t> Users whose `profiles.role = 'admin'` have policy clearance to update pickup statuses (`status = 'collected'`).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Service Key Exposure:</a:t>
            </a:r>
            <a:r>
              <a:rPr>
                <a:solidFill>
                  <a:srgbClr val="334155"/>
                </a:solidFill>
              </a:rPr>
              <a:t> Only the safe Supabase Anon Key is used on the client; database rules enforce isolation.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OPERATIONAL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Step-by-Step Platform Execution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Chronological user journey from booking to certified recycling and carbon quantification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Citizen Doorstep Booking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User registers or logs in via Supabase Auth.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Selects e-waste gadget category &amp; unit quantity.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Specifies pickup date &amp; street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Record saved with initial 'pending' status.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Instant Email Dispatch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9312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intercepts successful submission.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automated booking confirmation.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Citizen receives pickup date &amp; category receipt in their real inbox.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Admin Triage &amp; 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Facility admin logs into Operations Portal.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Inspects pickup queue by status and search queries.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Updates status: Pending → Scheduled → Collected.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status update email notification.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Safe Recycling &amp;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Materials dismantled at authorized facility.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Toxic heavy metals isolated from landfills.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Live Environmental Impact metrics increment: Diverted Mass, CO2e, Trees Saved.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EMPIRICAL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Mathematical Modeling of Environmental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Scientific quantification of greenhouse gas reduction and material circularity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Mathematical Formulas &amp; Constants</a:t>
            </a:r>
            <a:r>
              <a:rPr b="1">
                <a:solidFill>
                  <a:srgbClr val="0F172A"/>
                </a:solidFill>
              </a:rPr>
              <a:t>• CO2e Emissions Prevented:</a:t>
            </a:r>
            <a:r>
              <a:rPr>
                <a:solidFill>
                  <a:srgbClr val="334155"/>
                </a:solidFill>
              </a:rPr>
              <a:t>
CO2e (kg) = Total Diverted Devices × 1.44 kg CO2e
(Based on life-cycle assessment of averted virgin mining).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Landfill Mass Diverted:</a:t>
            </a:r>
            <a:r>
              <a:rPr>
                <a:solidFill>
                  <a:srgbClr val="334155"/>
                </a:solidFill>
              </a:rPr>
              <a:t>
Mass (kg) = Total Diverted Devices × 2.10 kg
(Weighted composite mass across IT and consumer gear).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Tree Absorption Equivalency:</a:t>
            </a:r>
            <a:r>
              <a:rPr>
                <a:solidFill>
                  <a:srgbClr val="334155"/>
                </a:solidFill>
              </a:rPr>
              <a:t>
Trees = CO2e (kg) / 21.8 kg CO2/tree/year
(USDA Forest Service baseline for mature urban trees).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Real-Time Computation:</a:t>
            </a:r>
            <a:r>
              <a:rPr>
                <a:solidFill>
                  <a:srgbClr val="334155"/>
                </a:solidFill>
              </a:rPr>
              <a:t>
Derived directly from `pickups` table aggregating active records where status != 'cancelled'.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1.44 kg CO2e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AVERTED EMISSIONS PER UNIT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Prevents greenhouse gases generated during bauxite, copper, and iron extraction.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D9488"/>
                </a:solidFill>
                <a:latin typeface="Segoe UI"/>
              </a:defRPr>
            </a:pPr>
            <a:r>
              <a:t>2.10 kg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AVERAGE DEVICE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Keeps plastics, glass, and toxic circuitry out of municipal waste dumps.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21.8 kg/yr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URBAN TREE ANNUAL ABSORPTION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Translates abstract emissions numbers into tangible, citizen-friendly tree equivalents.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COMMUNICATION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Unified Real-Time Email Notification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Decoupled, serverless transactional communications delivering real inbox notifications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Serverless Notification Architecture</a:t>
            </a:r>
            <a:r>
              <a:rPr b="1">
                <a:solidFill>
                  <a:srgbClr val="0F172A"/>
                </a:solidFill>
              </a:rPr>
              <a:t>• Zero Server Overhead:</a:t>
            </a:r>
            <a:r>
              <a:rPr>
                <a:solidFill>
                  <a:srgbClr val="334155"/>
                </a:solidFill>
              </a:rPr>
              <a:t> Replaces costly dedicated SMTP servers or Node.js email microservices with browser-initiated EmailJS SDK.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Unified Infrastructure:</a:t>
            </a:r>
            <a:r>
              <a:rPr>
                <a:solidFill>
                  <a:srgbClr val="334155"/>
                </a:solidFill>
              </a:rPr>
              <a:t> Shared service (`service_np1cnlg`) and template (`template_to9738m`) used across both React &amp; Vanilla projects.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Dynamic Payload Injection:</a:t>
            </a:r>
            <a:r>
              <a:rPr>
                <a:solidFill>
                  <a:srgbClr val="334155"/>
                </a:solidFill>
              </a:rPr>
              <a:t> Sends customer name, recipient email, e-waste category, unit quantity, pickup date, and doorstep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1 - Booking Confirmation:</a:t>
            </a:r>
            <a:r>
              <a:rPr>
                <a:solidFill>
                  <a:srgbClr val="334155"/>
                </a:solidFill>
              </a:rPr>
              <a:t> Fires immediately upon pickup form submission; user receives proof of schedule.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2 - Status Transition:</a:t>
            </a:r>
            <a:r>
              <a:rPr>
                <a:solidFill>
                  <a:srgbClr val="334155"/>
                </a:solidFill>
              </a:rPr>
              <a:t> Fires when facility admin marks item as 'Collected' or 'Scheduled'.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A34A"/>
                </a:solidFill>
                <a:latin typeface="Segoe UI"/>
              </a:defRPr>
            </a:pPr>
            <a:r>
              <a:t>✉️ SAMPLE EMAILJS TEMPLATE PAYLOAD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Service ID:   service_np1cnlg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ID:  template_to9738m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Key:   c7znG95LlpIxLgUEm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Variables Dispatched: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to_email:    customer@university.edu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to_name:     Chandan B K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item_type:   Laptops &amp; Notebooks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quantity:    2 unit(s)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pickup_date: Oct 20, 2026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address:     PESCE Campus, Mandya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status:      SCHEDULED / VERIFIED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Delivered to user's real email inbox in &lt; 2.5s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DEPLOYMENT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Live Cloud Deployments &amp; Cross-Platform Parity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Both editions successfully tested, cloud-hosted, and live on production 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Segoe UI"/>
              </a:defRPr>
            </a:pPr>
            <a:r>
              <a:t>🚀 Project 1: React Full-Stack Edition</a:t>
            </a:r>
            <a:r>
              <a:rPr b="1">
                <a:solidFill>
                  <a:srgbClr val="0F172A"/>
                </a:solidFill>
              </a:rPr>
              <a:t>• Live URL:</a:t>
            </a:r>
            <a:r>
              <a:rPr>
                <a:solidFill>
                  <a:srgbClr val="334155"/>
                </a:solidFill>
              </a:rPr>
              <a:t> https://ecocycle-beryl.vercel.app/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VERCEL GLOBAL EDGE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Repository:</a:t>
            </a:r>
            <a:r>
              <a:rPr>
                <a:solidFill>
                  <a:srgbClr val="334155"/>
                </a:solidFill>
              </a:rPr>
              <a:t> https://github.com/chandan-bk/ecocycle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Lighthouse Performance: 98/100; First Contentful Paint &lt; 0.8s.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SPA client routing with real-time Supabase Auth state synchronization.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A34A"/>
                </a:solidFill>
                <a:latin typeface="Segoe UI"/>
              </a:defRPr>
            </a:pPr>
            <a:r>
              <a:t>🌿 Project 2: Pure Vanilla Web Edition</a:t>
            </a:r>
            <a:r>
              <a:rPr b="1">
                <a:solidFill>
                  <a:srgbClr val="0F172A"/>
                </a:solidFill>
              </a:rPr>
              <a:t>• Live URL:</a:t>
            </a:r>
            <a:r>
              <a:rPr>
                <a:solidFill>
                  <a:srgbClr val="334155"/>
                </a:solidFill>
              </a:rPr>
              <a:t> https://ecocycle-vanilla.vercel.app/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VERCEL CLOUD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Repository:</a:t>
            </a:r>
            <a:r>
              <a:rPr>
                <a:solidFill>
                  <a:srgbClr val="334155"/>
                </a:solidFill>
              </a:rPr>
              <a:t> https://github.com/chandan-bk/ecocycle-vanilla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Zero-build architecture; instant global edge deployment on Vercel.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Verified identical operational parity with unified Supabase database.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10728655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10241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Empirical Validation &amp; Test Case Execution Matrix</a:t>
            </a:r>
            <a:r>
              <a:rPr b="1">
                <a:solidFill>
                  <a:srgbClr val="0F172A"/>
                </a:solidFill>
              </a:rPr>
              <a:t>• TC-01 (Doorstep Booking):</a:t>
            </a:r>
            <a:r>
              <a:rPr>
                <a:solidFill>
                  <a:srgbClr val="334155"/>
                </a:solidFill>
              </a:rPr>
              <a:t> User schedules pickup in Vanilla web -&gt; Confirmed in DB -&gt; Instant Email receipt received -&gt; Visible in React 'My Pickups'.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TC-02 (Admin Operations):</a:t>
            </a:r>
            <a:r>
              <a:rPr>
                <a:solidFill>
                  <a:srgbClr val="334155"/>
                </a:solidFill>
              </a:rPr>
              <a:t> Status changed to 'collected' in Admin portal -&gt; Triggered status email alert -&gt; Updated Impact analytics.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TC-03 (GIS Geolocation):</a:t>
            </a:r>
            <a:r>
              <a:rPr>
                <a:solidFill>
                  <a:srgbClr val="334155"/>
                </a:solidFill>
              </a:rPr>
              <a:t> Filter by 'Mandya' displays 3 certified drop points; clicking directions launches Google Maps coordinates.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TC-04 (Role Security):</a:t>
            </a:r>
            <a:r>
              <a:rPr>
                <a:solidFill>
                  <a:srgbClr val="334155"/>
                </a:solidFill>
              </a:rPr>
              <a:t> Non-admin user cannot access Admin panel or alter pickup records; demo key `ECOADMIN2025` required. [PASSED]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Future Scope &amp; Technical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Next-generation engineering enhancements to scale EcoCycle for smart city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📡 IoT Smart Bin Telemetry</a:t>
            </a:r>
            <a:r>
              <a:rPr>
                <a:solidFill>
                  <a:srgbClr val="334155"/>
                </a:solidFill>
              </a:rPr>
              <a:t>• Deployment of ESP32 / LoRaWAN ultrasonic sensors on municipal collection drop bins.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ULTRASONIC FILL-LEVEL SENSORS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pickup dispatch when bin fill capacity crosses 80%.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Eliminates overflow and schedules dynamic collection routes.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🤖 AI Scrap Grading &amp; Valuation</a:t>
            </a:r>
            <a:r>
              <a:rPr>
                <a:solidFill>
                  <a:srgbClr val="334155"/>
                </a:solidFill>
              </a:rPr>
              <a:t>• Integration of MobileNet / YOLO vision models for smartphone camera identification.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COMPUTER VISION CLASSIFICATION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detection of cracked screens, battery swelling, and device models.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Calculates instant scrap market buyback valuation for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🪙 Green Credits &amp; Tokenization</a:t>
            </a:r>
            <a:r>
              <a:rPr>
                <a:solidFill>
                  <a:srgbClr val="334155"/>
                </a:solidFill>
              </a:rPr>
              <a:t>• Users receive verified 'EcoCredits' proportional to averted carbon footprint.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BLOCKCHAIN CIRCULAR INCENTIVES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Redeemable for electronics repair discounts or green retail partner vouchers.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Encourages sustainable consumer behavior through gamified rewards.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🚚 Fleet Route Optimization</a:t>
            </a:r>
            <a:r>
              <a:rPr>
                <a:solidFill>
                  <a:srgbClr val="334155"/>
                </a:solidFill>
              </a:rPr>
              <a:t>• Traveling Salesperson (TSP) pathfinding algorithms for collection trucks.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DIJKSTRA / TSP OPTIMIZATION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Minimizes fuel consumption and transit carbon emissions during multi-stop pickups.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driver routing application with turn-by-turn guidance.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Conclusion &amp; Key Technical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Summary of project contributions, technical learnings, and socio-environmental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3429000" cy="9144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Bridging the Civic E-Waste Void</a:t>
            </a:r>
            <a:r>
              <a:rPr>
                <a:solidFill>
                  <a:srgbClr val="334155"/>
                </a:solidFill>
              </a:rPr>
              <a:t>• Eliminated consumer friction by offering frictionless doorstep pickup scheduling.</a:t>
            </a:r>
          </a:p>
          <a:p>
            <a:pPr>
              <a:spcAft>
                <a:spcPts val="1400"/>
              </a:spcAft>
              <a:defRPr sz="1000" b="1">
                <a:solidFill>
                  <a:srgbClr val="10A34A"/>
                </a:solidFill>
                <a:latin typeface="Segoe UI"/>
              </a:defRPr>
            </a:pPr>
            <a:r>
              <a:t>SOCIO-ENVIRONMENTAL IMPACT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Promoted authorized CPCB recyclers, starving informal acid-leaching networks.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Empowered citizens with transparent feedback loops and real carbon offset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691640"/>
            <a:ext cx="342900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Architectural Mastery</a:t>
            </a:r>
            <a:r>
              <a:rPr>
                <a:solidFill>
                  <a:srgbClr val="334155"/>
                </a:solidFill>
              </a:rPr>
              <a:t>• Demonstrated competence in both modern reactive frameworks (React + Vite) and pure web standards (HTML5/CSS3/ES6+).</a:t>
            </a:r>
          </a:p>
          <a:p>
            <a:pPr>
              <a:spcAft>
                <a:spcPts val="14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DUAL-STACK ENGINEERING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Proved that pure vanilla code achieves parity with zero build dependencies.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Leveraged BaaS (Supabase) to eliminate backend infrastructure management.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2" y="1691640"/>
            <a:ext cx="3429000" cy="91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Production Readiness</a:t>
            </a:r>
            <a:r>
              <a:rPr>
                <a:solidFill>
                  <a:srgbClr val="334155"/>
                </a:solidFill>
              </a:rPr>
              <a:t>• Implemented secure Row Level Security (RLS) policies at the PostgreSQL engine.</a:t>
            </a:r>
          </a:p>
          <a:p>
            <a:pPr>
              <a:spcAft>
                <a:spcPts val="1400"/>
              </a:spcAft>
              <a:defRPr sz="1000" b="1">
                <a:solidFill>
                  <a:srgbClr val="1E293B"/>
                </a:solidFill>
                <a:latin typeface="Segoe UI"/>
              </a:defRPr>
            </a:pPr>
            <a:r>
              <a:t>FULL-LIFECYCLE DELIVERY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Architected a serverless transactional email pipeline delivering live alerts.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Both projects successfully deployed and validated on public production URLs.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defRPr sz="2200">
                <a:solidFill>
                  <a:srgbClr val="10A34A"/>
                </a:solidFill>
                <a:latin typeface="Segoe UI"/>
              </a:defRPr>
            </a:pPr>
            <a:r>
              <a:t>Questions &amp; Academic Discussion Welcome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10058400" cy="34747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509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PROJECT RESOURCE DIRECTORY &amp; LIVE DEMONSTRATION LINKS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🌐 React Edition Live Demo:     https://ecocycle-beryl.vercel.app/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🌿 Vanilla Edition Live Demo:   https://ecocycle-vanilla.vercel.app/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React GitHub Repository:      https://github.com/chandan-bk/ecocycle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Vanilla GitHub Repository:    https://github.com/chandan-bk/ecocycle-vanilla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🗄️ Supabase Cloud DB Host:       https://anusmzkuuudrtgzgccby.supabase.co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✉️ EmailJS Service Engine:       service_np1cnlg (template_to9738m)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👥 Team Contact:                 Chandan B K &amp; Capstone Project Team (4 Members)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